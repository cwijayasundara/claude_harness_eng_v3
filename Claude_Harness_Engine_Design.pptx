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109728" cy="201168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Harness Engine v1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SDLC Scaffolding for Agentic Software Delivery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GAN-Inspired Architecture  •  Karpathy Ratchet  •  Agent Teams  •  Session Chaining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VP Engineering  |  Building Agentic Applications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Traditional Agent Pods Fall Short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374904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188720"/>
            <a:ext cx="3749040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Self-Evaluation Bias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grade their own work, miss critical failures, and declare success prematurely.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74904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188720"/>
            <a:ext cx="3749040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3716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Monotonic Progress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17830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iteration can regress previous work. Coverage drops, bugs reappear, features break.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374904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926080"/>
            <a:ext cx="3749040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 Window Amnesia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builds lose early decisions. No state survives across sessions.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54880" y="2926080"/>
            <a:ext cx="374904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926080"/>
            <a:ext cx="3749040" cy="54864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Flat Team Structure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3520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agents share equal authority. No structural separation between creation and verification.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Philosophy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20240" cy="3200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4173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 Separation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" y="26060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writes code. Evaluator verifies. Neither can do the other's job.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1143000"/>
            <a:ext cx="1920240" cy="3200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Karpathy Ratchet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743200" y="26060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metric moves forward, never backward. Monotonic quality improvement.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754880" y="1143000"/>
            <a:ext cx="1920240" cy="3200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41732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9204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Institutional Memory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892040" y="26060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become learned rules. Knowledge compounds across sessions.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903720" y="1143000"/>
            <a:ext cx="1920240" cy="3200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41732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040880" y="21031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Phased Agent Teams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7040880" y="2606040"/>
            <a:ext cx="1645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DAG-driven parallel execution with dependency handshakes between phases.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End-to-End SDLC Pipeline — 8 Phases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76072" y="100584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5" name="Text 3"/>
          <p:cNvSpPr/>
          <p:nvPr/>
        </p:nvSpPr>
        <p:spPr>
          <a:xfrm>
            <a:off x="57607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20040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/brd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0040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Socratic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1234440"/>
            <a:ext cx="3657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55064" y="100584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65506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99032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/spec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99032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 &amp;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 Graph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67712" y="1234440"/>
            <a:ext cx="3657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34056" y="100584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2734056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78024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/design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478024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Mockups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346704" y="1234440"/>
            <a:ext cx="3657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13048" y="100584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3813048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557016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/implement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57016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Team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425696" y="1234440"/>
            <a:ext cx="3657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92040" y="100584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5" name="Text 23"/>
          <p:cNvSpPr/>
          <p:nvPr/>
        </p:nvSpPr>
        <p:spPr>
          <a:xfrm>
            <a:off x="4892040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636008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/evaluate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36008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04688" y="1234440"/>
            <a:ext cx="3657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71032" y="100584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0" name="Text 28"/>
          <p:cNvSpPr/>
          <p:nvPr/>
        </p:nvSpPr>
        <p:spPr>
          <a:xfrm>
            <a:off x="5971032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715000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/review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15000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Sprint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583680" y="1234440"/>
            <a:ext cx="3657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50024" y="1005840"/>
            <a:ext cx="457200" cy="4572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35" name="Text 33"/>
          <p:cNvSpPr/>
          <p:nvPr/>
        </p:nvSpPr>
        <p:spPr>
          <a:xfrm>
            <a:off x="7050024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793992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/test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793992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662672" y="1234440"/>
            <a:ext cx="36576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29016" y="1005840"/>
            <a:ext cx="457200" cy="4572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8129016" y="1005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872984" y="1572768"/>
            <a:ext cx="969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/auto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872984" y="1874520"/>
            <a:ext cx="969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Ratchet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2606040"/>
            <a:ext cx="3236976" cy="274320"/>
          </a:xfrm>
          <a:prstGeom prst="rect">
            <a:avLst/>
          </a:prstGeom>
          <a:solidFill>
            <a:srgbClr val="8B5CF6">
              <a:alpha val="85000"/>
            </a:srgbClr>
          </a:solidFill>
          <a:ln/>
        </p:spPr>
      </p:sp>
      <p:sp>
        <p:nvSpPr>
          <p:cNvPr id="44" name="Text 42"/>
          <p:cNvSpPr/>
          <p:nvPr/>
        </p:nvSpPr>
        <p:spPr>
          <a:xfrm>
            <a:off x="320040" y="260604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Human-Gated (Phases 1-3)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57016" y="2606040"/>
            <a:ext cx="4315968" cy="274320"/>
          </a:xfrm>
          <a:prstGeom prst="rect">
            <a:avLst/>
          </a:prstGeom>
          <a:solidFill>
            <a:srgbClr val="0D9488">
              <a:alpha val="85000"/>
            </a:srgbClr>
          </a:solidFill>
          <a:ln/>
        </p:spPr>
      </p:sp>
      <p:sp>
        <p:nvSpPr>
          <p:cNvPr id="46" name="Text 44"/>
          <p:cNvSpPr/>
          <p:nvPr/>
        </p:nvSpPr>
        <p:spPr>
          <a:xfrm>
            <a:off x="3557016" y="2606040"/>
            <a:ext cx="4315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(Phases 4-7)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872984" y="2606040"/>
            <a:ext cx="969264" cy="274320"/>
          </a:xfrm>
          <a:prstGeom prst="rect">
            <a:avLst/>
          </a:prstGeom>
          <a:solidFill>
            <a:srgbClr val="F59E0B">
              <a:alpha val="85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7872984" y="2606040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40080" y="3200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Responsibility by Phase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11880"/>
          <a:ext cx="786384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914400"/>
                <a:gridCol w="32918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 + Spec + Design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BRD, stories, dep graph, architecture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 + Teams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+ tests via TDD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Evaluate +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verdict, security report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Engineer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Playwright E2E suites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Karpathy's Ratchet — Monotonic Progress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metric passes, it can never regress. Quality only moves forward.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06040" cy="1417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606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5087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554480" y="1508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Tests Pass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pytest/vitest must exit 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606040" cy="1417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371600"/>
            <a:ext cx="2606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15087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389120" y="1508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429000" y="1828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Lint + Types Clean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ruff/mypy/tsc exit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371600"/>
            <a:ext cx="2606040" cy="1417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371600"/>
            <a:ext cx="2606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5087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223760" y="15087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63640" y="18288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 &gt;= Baseline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219456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80%, never drops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063240"/>
            <a:ext cx="2606040" cy="1417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063240"/>
            <a:ext cx="26060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3200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554480" y="32004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Full/Lean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36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Alignment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4360" y="38862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layer deps enforced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91840" y="3063240"/>
            <a:ext cx="2606040" cy="1417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91840" y="3063240"/>
            <a:ext cx="26060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3429000" y="3200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5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389120" y="32004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Full/Lean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2900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Evaluator Verdict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29000" y="38862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Playwright + Docker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126480" y="3063240"/>
            <a:ext cx="2606040" cy="14173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26480" y="3063240"/>
            <a:ext cx="260604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7" name="Text 35"/>
          <p:cNvSpPr/>
          <p:nvPr/>
        </p:nvSpPr>
        <p:spPr>
          <a:xfrm>
            <a:off x="6263640" y="32004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223760" y="32004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only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63640" y="35204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Critic Score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263640" y="38862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scoring, weighted rubric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Self-Healing on Gate Failure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3 attempts per gate. Each attempt uses a different fix strategy.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68680" y="137160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Diagnose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structured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JSON</a:t>
            </a:r>
            <a:endParaRPr lang="en-US" sz="1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481328"/>
            <a:ext cx="320040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606040" y="137160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8"/>
          <p:cNvSpPr/>
          <p:nvPr/>
        </p:nvSpPr>
        <p:spPr>
          <a:xfrm>
            <a:off x="260604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19456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Classify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2194560" y="2377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failure categories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(lint, type, test...)</a:t>
            </a:r>
            <a:endParaRPr lang="en-US" sz="10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481328"/>
            <a:ext cx="320040" cy="3200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343400" y="137160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2"/>
          <p:cNvSpPr/>
          <p:nvPr/>
        </p:nvSpPr>
        <p:spPr>
          <a:xfrm>
            <a:off x="43434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393192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Fix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3931920" y="2377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strategy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(different each try)</a:t>
            </a:r>
            <a:endParaRPr lang="en-US" sz="10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481328"/>
            <a:ext cx="320040" cy="3200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080760" y="137160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1" name="Text 16"/>
          <p:cNvSpPr/>
          <p:nvPr/>
        </p:nvSpPr>
        <p:spPr>
          <a:xfrm>
            <a:off x="60807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566928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Re-Run Gate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669280" y="2377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failed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re-executes</a:t>
            </a:r>
            <a:endParaRPr lang="en-US" sz="10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1481328"/>
            <a:ext cx="320040" cy="32004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818120" y="1371600"/>
            <a:ext cx="548640" cy="54864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0"/>
          <p:cNvSpPr/>
          <p:nvPr/>
        </p:nvSpPr>
        <p:spPr>
          <a:xfrm>
            <a:off x="78181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7406640" y="20574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 or Escalate</a:t>
            </a:r>
            <a:endParaRPr lang="en-US" sz="1200" dirty="0"/>
          </a:p>
        </p:txBody>
      </p:sp>
      <p:sp>
        <p:nvSpPr>
          <p:cNvPr id="28" name="Text 22"/>
          <p:cNvSpPr/>
          <p:nvPr/>
        </p:nvSpPr>
        <p:spPr>
          <a:xfrm>
            <a:off x="7406640" y="23774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fail: revert,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extract rule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64008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Failure Categories</a:t>
            </a:r>
            <a:endParaRPr lang="en-US" sz="1400" dirty="0"/>
          </a:p>
        </p:txBody>
      </p:sp>
      <p:sp>
        <p:nvSpPr>
          <p:cNvPr id="30" name="Shape 24"/>
          <p:cNvSpPr/>
          <p:nvPr/>
        </p:nvSpPr>
        <p:spPr>
          <a:xfrm>
            <a:off x="640080" y="365760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1" name="Text 25"/>
          <p:cNvSpPr/>
          <p:nvPr/>
        </p:nvSpPr>
        <p:spPr>
          <a:xfrm>
            <a:off x="640080" y="36576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2212848" y="365760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3" name="Text 27"/>
          <p:cNvSpPr/>
          <p:nvPr/>
        </p:nvSpPr>
        <p:spPr>
          <a:xfrm>
            <a:off x="2212848" y="36576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3785616" y="365760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5" name="Text 29"/>
          <p:cNvSpPr/>
          <p:nvPr/>
        </p:nvSpPr>
        <p:spPr>
          <a:xfrm>
            <a:off x="3785616" y="36576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5358384" y="365760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7" name="Text 31"/>
          <p:cNvSpPr/>
          <p:nvPr/>
        </p:nvSpPr>
        <p:spPr>
          <a:xfrm>
            <a:off x="5358384" y="36576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6931152" y="365760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9" name="Text 33"/>
          <p:cNvSpPr/>
          <p:nvPr/>
        </p:nvSpPr>
        <p:spPr>
          <a:xfrm>
            <a:off x="6931152" y="365760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000" dirty="0"/>
          </a:p>
        </p:txBody>
      </p:sp>
      <p:sp>
        <p:nvSpPr>
          <p:cNvPr id="40" name="Shape 34"/>
          <p:cNvSpPr/>
          <p:nvPr/>
        </p:nvSpPr>
        <p:spPr>
          <a:xfrm>
            <a:off x="640080" y="406908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1" name="Text 35"/>
          <p:cNvSpPr/>
          <p:nvPr/>
        </p:nvSpPr>
        <p:spPr>
          <a:xfrm>
            <a:off x="640080" y="40690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2212848" y="406908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3" name="Text 37"/>
          <p:cNvSpPr/>
          <p:nvPr/>
        </p:nvSpPr>
        <p:spPr>
          <a:xfrm>
            <a:off x="2212848" y="40690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3785616" y="406908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5" name="Text 39"/>
          <p:cNvSpPr/>
          <p:nvPr/>
        </p:nvSpPr>
        <p:spPr>
          <a:xfrm>
            <a:off x="3785616" y="40690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5358384" y="406908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7" name="Text 41"/>
          <p:cNvSpPr/>
          <p:nvPr/>
        </p:nvSpPr>
        <p:spPr>
          <a:xfrm>
            <a:off x="5358384" y="40690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6931152" y="4069080"/>
            <a:ext cx="1417320" cy="2926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9" name="Text 43"/>
          <p:cNvSpPr/>
          <p:nvPr/>
        </p:nvSpPr>
        <p:spPr>
          <a:xfrm>
            <a:off x="6931152" y="406908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Continuous Learning — Institutional Memory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Failure-Driven Learning Loop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91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97280" y="166420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encounters failure during build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130552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30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97280" y="2103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logged to failures.md (append-only)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569464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569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2542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error type appears 2+ times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3008376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0083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" y="298094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rule extracted automatically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47288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34198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injected into ALL future agent prompts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3886200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86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97280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regression across all sessions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1097280"/>
            <a:ext cx="4023360" cy="3474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Learned Rule 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46320" y="1691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035040" y="16916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Story, Iteration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2112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035040" y="2112264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Quantified damage metric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46320" y="25328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035040" y="25328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46320" y="295351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Anti-Pattern: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035040" y="29535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code example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46320" y="33741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Approach: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35040" y="33741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pattern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46320" y="3794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in: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5040" y="37947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must follow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46320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never deleted — only added. Knowledge compounds across sessions.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Story Clustering via Dependency Graph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371600"/>
            <a:ext cx="14630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+ Config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stories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9456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194560" y="1371600"/>
            <a:ext cx="146304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+ DB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86000" y="2148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Layer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286000" y="2468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stories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4048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40480" y="1371600"/>
            <a:ext cx="14630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3192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+ Logic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31920" y="2148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931920" y="2468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stories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0" y="1371600"/>
            <a:ext cx="146304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557784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7784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2148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77840" y="2468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stories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32320" y="1371600"/>
            <a:ext cx="14630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0" y="1371600"/>
            <a:ext cx="14630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722376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Group 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223760" y="1828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Components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214884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223760" y="24688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stories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011680" y="21945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0" y="21945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03520" y="21945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49440" y="219456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8640" y="3383280"/>
            <a:ext cx="80467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31520" y="3474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Layer Ordering Rule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(L1)  →  Config (L2)  →  Repository (L3)  →  Service (L4)  →  API (L5)  →  UI (L6)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layer may import from layers below, never above. Enforced by check-architecture.js hook on every file save.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Team Allocation per Cluster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11480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Dependency Handshake Protocol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7432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167335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Analyze Component Map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187452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stories for shared files (files in 2+ stories)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" y="2258568"/>
            <a:ext cx="27432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51560" y="22402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 Interfaces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441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Produces:/Consumes: annotations between stories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0080" y="2825496"/>
            <a:ext cx="27432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25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51560" y="280720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Micro-DAG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" y="300837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teammates into sequential phases by dependency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3392424"/>
            <a:ext cx="27432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1560" y="33741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Spawn Phase 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51560" y="35753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 parallel teammates, no upstream deps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40080" y="3959352"/>
            <a:ext cx="27432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959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51560" y="39410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Contract-First Commit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" y="414223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interfaces (Pydantic/TS) committed before signaling done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27432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51560" y="450799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Spawn Phase 2+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47091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teammates receive upstream contracts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54880" y="1051560"/>
            <a:ext cx="393192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937760" y="1188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Phased Team Execution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029200" y="1691640"/>
            <a:ext cx="3474720" cy="91440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166360" y="1737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  —  Parallel (max 5)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166360" y="2029968"/>
            <a:ext cx="9144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5" name="Text 33"/>
          <p:cNvSpPr/>
          <p:nvPr/>
        </p:nvSpPr>
        <p:spPr>
          <a:xfrm>
            <a:off x="5166360" y="20299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 1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17920" y="2029968"/>
            <a:ext cx="9144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7" name="Text 35"/>
          <p:cNvSpPr/>
          <p:nvPr/>
        </p:nvSpPr>
        <p:spPr>
          <a:xfrm>
            <a:off x="6217920" y="20299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 2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269480" y="2029968"/>
            <a:ext cx="914400" cy="4114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9" name="Text 37"/>
          <p:cNvSpPr/>
          <p:nvPr/>
        </p:nvSpPr>
        <p:spPr>
          <a:xfrm>
            <a:off x="7269480" y="20299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 3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766560" y="2606040"/>
            <a:ext cx="0" cy="27432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29200" y="2926080"/>
            <a:ext cx="3474720" cy="73152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" name="Text 40"/>
          <p:cNvSpPr/>
          <p:nvPr/>
        </p:nvSpPr>
        <p:spPr>
          <a:xfrm>
            <a:off x="516636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  —  Consumes Phase 1 Contracts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166360" y="3246120"/>
            <a:ext cx="1280160" cy="320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4" name="Text 42"/>
          <p:cNvSpPr/>
          <p:nvPr/>
        </p:nvSpPr>
        <p:spPr>
          <a:xfrm>
            <a:off x="5166360" y="3246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 4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629400" y="3246120"/>
            <a:ext cx="1280160" cy="32004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46" name="Text 44"/>
          <p:cNvSpPr/>
          <p:nvPr/>
        </p:nvSpPr>
        <p:spPr>
          <a:xfrm>
            <a:off x="6629400" y="3246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Teammate 5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766560" y="3657600"/>
            <a:ext cx="0" cy="274320"/>
          </a:xfrm>
          <a:prstGeom prst="line">
            <a:avLst/>
          </a:prstGeom>
          <a:noFill/>
          <a:ln w="25400">
            <a:solidFill>
              <a:srgbClr val="5EEAD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029200" y="3977640"/>
            <a:ext cx="3474720" cy="5486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9" name="Text 47"/>
          <p:cNvSpPr/>
          <p:nvPr/>
        </p:nvSpPr>
        <p:spPr>
          <a:xfrm>
            <a:off x="5166360" y="4023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3  —  Integration (single commit to shared files)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GAN-Inspired Generator vs Evaluator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separation eliminates self-evaluation bias. Neither agent can do the other's job.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4747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25880"/>
            <a:ext cx="3474720" cy="4572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Generator (Sonnet)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sprint contract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404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TDD: write failing tests first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8437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code to pass tests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328269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 agent team (phased)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7216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Self-heal on failure (max 3)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60520" y="2606040"/>
            <a:ext cx="822960" cy="822960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4160520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D3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212080" y="1325880"/>
            <a:ext cx="34747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080" y="1325880"/>
            <a:ext cx="3474720" cy="457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521208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Evaluator (Opus)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40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sprint contract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40680" y="24048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app in Docker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40680" y="28437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curl API endpoints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40680" y="328269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Playwright UI tests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40680" y="37216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Vision design scoring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7091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Contract: Generator proposes → Evaluator finalizes → Immutable. No back-and-forth negotiation.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Three-Layer Evaluation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 never reads source code — only runs the app and checks observable behavior.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2651760" cy="4572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00200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Layer 1: API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curl + jsonschema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3063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logic, schema mismatches, error handling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37560" y="1371600"/>
            <a:ext cx="2651760" cy="45720"/>
          </a:xfrm>
          <a:prstGeom prst="rect">
            <a:avLst/>
          </a:prstGeom>
          <a:solidFill>
            <a:srgbClr val="0EA5E9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60020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4720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Layer 2: Playwright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347472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Semantic selectors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3520440" y="3063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352044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bugs, broken forms, dead buttons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217920" y="1371600"/>
            <a:ext cx="2651760" cy="45720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0020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355080" y="2240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Layer 3: Vision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35508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Opus design-critic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6400800" y="30632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640080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templates, poor spacing, bad styling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Design-Critic GAN Scoring (Full Mode)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(DQ × 1.5 + O × 1.5 + C × 0.75 + F × 0.75) / 4.5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783080"/>
            <a:ext cx="192024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DQ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Quality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coherence, color palette, layout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06040" y="17830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606040" y="1783080"/>
            <a:ext cx="192024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269748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79476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Originality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9748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vs template defaults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7830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783080"/>
            <a:ext cx="19202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94360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Craft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Typography, spacing, alignment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17830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903720" y="1783080"/>
            <a:ext cx="192024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19202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92440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9516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Functionality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995160" y="26517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can understand and complete tasks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611880"/>
            <a:ext cx="40233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 Conditions (both required)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008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average &gt;= 7.0 (configurable)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individual scores &gt;= 5.0 minimum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3611880"/>
            <a:ext cx="40233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846320" y="3703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Plateau Detection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46320" y="40233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scores plateau for N iterations, the system forces a fundamental design pivot — new palette, layout, and typography. Max 10 iterations (configurable).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Session Chaining — Multi-Context Recovery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builds survive context window limits through append-only state files.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53035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371600"/>
            <a:ext cx="64008" cy="5303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371600"/>
            <a:ext cx="320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37160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program.md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Constraints, steering directives (human-editable mid-run)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029968"/>
            <a:ext cx="8229600" cy="53035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029968"/>
            <a:ext cx="64008" cy="5303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29968"/>
            <a:ext cx="320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02996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learned-rules.md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2029968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— injected into all agent prompts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88336"/>
            <a:ext cx="8229600" cy="53035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688336"/>
            <a:ext cx="64008" cy="530352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688336"/>
            <a:ext cx="320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268833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claude-progress.txt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1840" y="2688336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group, completed groups, next action,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346704"/>
            <a:ext cx="8229600" cy="53035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3346704"/>
            <a:ext cx="64008" cy="530352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346704"/>
            <a:ext cx="320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97280" y="334670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features.json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91840" y="3346704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Pass/fail state for all features with failure layer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005072"/>
            <a:ext cx="8229600" cy="530352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6" name="Shape 24"/>
          <p:cNvSpPr/>
          <p:nvPr/>
        </p:nvSpPr>
        <p:spPr>
          <a:xfrm>
            <a:off x="457200" y="4005072"/>
            <a:ext cx="64008" cy="530352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005072"/>
            <a:ext cx="320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" y="400507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dependency-graph.md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91840" y="4005072"/>
            <a:ext cx="5212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next unfinished group in sequence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286000" y="4709160"/>
            <a:ext cx="457200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2286000" y="4709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cost: ~700-1000 tokens. Negligible vs context window.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Execution Modes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097280"/>
            <a:ext cx="1965960" cy="5029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737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$100-300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22860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468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9260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35661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37490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high-stakes apps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560320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560320" y="1097280"/>
            <a:ext cx="1965960" cy="5029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256032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97480" y="1737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$30-80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697480" y="22860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697480" y="2468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1-5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697480" y="29260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69748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97480" y="35661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697480" y="37490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Backend-heavy, internal tools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0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1097280"/>
            <a:ext cx="1965960" cy="5029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Solo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892040" y="1737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$5-15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892040" y="22860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92040" y="2468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1-3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92040" y="29260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9204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92040" y="35661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92040" y="37490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fixes, small features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49440" y="109728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949440" y="1097280"/>
            <a:ext cx="1965960" cy="502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0" y="10972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Turbo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86600" y="17373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$30-50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086600" y="228600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86600" y="246888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per commit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at end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86600" y="292608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Teams: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086600" y="31089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86600" y="3566160"/>
            <a:ext cx="1691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Use: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086600" y="37490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Well-specified tasks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Agile Pod vs Agentic Pod — Team Structure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3977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868680"/>
            <a:ext cx="4023360" cy="36576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Traditional Agile Pod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6-10 people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3657600" cy="38404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73736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Architect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68880" y="173736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26080" y="173736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design, tech decisions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2212848"/>
            <a:ext cx="3657600" cy="38404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2128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Developer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221284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26080" y="221284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UI/UX implementation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48640" y="2688336"/>
            <a:ext cx="3657600" cy="38404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68833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Developer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468880" y="26883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26080" y="268833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APIs, services, data layer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" y="3163824"/>
            <a:ext cx="3657600" cy="38404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16382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Analyst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468880" y="31638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26080" y="31638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acceptance criteria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8640" y="3639312"/>
            <a:ext cx="3657600" cy="38404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3931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Engineer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68880" y="363931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926080" y="363931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plans, manual + automated testing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48640" y="4114800"/>
            <a:ext cx="3657600" cy="384048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1148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468880" y="411480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926080" y="411480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ceremonies, impediment removal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54880" y="868680"/>
            <a:ext cx="4023360" cy="39776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754880" y="868680"/>
            <a:ext cx="4023360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868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Pod (with Harness)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93776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3-4 people + 7 AI agents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4937760" y="16916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ROLES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937760" y="1938528"/>
            <a:ext cx="3657600" cy="34747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19385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(Full-Stack)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766560" y="1938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178040" y="193852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Steer /auto, review, vibe code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937760" y="2359152"/>
            <a:ext cx="3657600" cy="34747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0" y="23591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 / BA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656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178040" y="235915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BRD, requirements, design review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937760" y="2779776"/>
            <a:ext cx="3657600" cy="34747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46" name="Text 44"/>
          <p:cNvSpPr/>
          <p:nvPr/>
        </p:nvSpPr>
        <p:spPr>
          <a:xfrm>
            <a:off x="5029200" y="277977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766560" y="277977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178040" y="277977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Coordination, stakeholder mgmt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937760" y="32735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ROLES (Harness Engine)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029200" y="35204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(Opus)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858000" y="35204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BRD, specs, architecture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029200" y="37033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 (Sonnet)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858000" y="37033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+ tests, spawns teams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029200" y="3886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 (Opus)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858000" y="388620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verification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029200" y="406908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Critic (Opus)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858000" y="406908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Vision-based UI scoring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029200" y="42519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(Sonnet)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858000" y="425196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vulnerability scan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029200" y="4434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Eng (Sonnet)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58000" y="443484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E2E suites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029200" y="46177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Designer (Sonnet)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6858000" y="4617720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mockups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Case Study: PE Document Intelligence Platform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Claude Harness Engine — Private Equity LPA/Subscription Document Processing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20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192024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2801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128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188720"/>
            <a:ext cx="1920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188720"/>
            <a:ext cx="192024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12801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511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20440" y="1298448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1920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188720"/>
            <a:ext cx="1920240" cy="4572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2801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EA5E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97%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669280" y="1298448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1188720"/>
            <a:ext cx="1920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03720" y="1188720"/>
            <a:ext cx="1920240" cy="4572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128016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7818120" y="1298448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6 Groups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56032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01752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17320" y="30175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+ Vite + TypeScript + Tailwind CSS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32918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417320" y="3291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+ FastAPI + SQLAlchemy 2.0 (async)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" y="356616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417320" y="356616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DeepAgents 0.4.12 (LangGraph) + 5 subagents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384048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38404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GPT-5.4-mini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411480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DB: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417320" y="4114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+ Weaviate (hybrid vector search)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417320" y="4389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bulk state machine (6 stages)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2560320"/>
            <a:ext cx="4023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800600" y="2651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80060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Upload + parse documents (PDF/DOCX via Reducto)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00600" y="3246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LLM classification against user-defined categories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00600" y="349300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Structured extraction with confidence scoring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800600" y="373989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Separate judge agent for confidence hard-gates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800600" y="398678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Semantic chunking + Weaviate RAG ingestion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00600" y="42336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Conversational retrieval chat with citations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800600" y="448056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Bulk processing pipeline with real-time tracking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Lesson Learned: Requirements Are Everything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scaffolding is only as good as the inputs it receives.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41248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84124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Well-Written Requirements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783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11680" y="2167128"/>
            <a:ext cx="22860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40280" y="178308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2" name="Text 10"/>
          <p:cNvSpPr/>
          <p:nvPr/>
        </p:nvSpPr>
        <p:spPr>
          <a:xfrm>
            <a:off x="2286000" y="1783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3320" y="2167128"/>
            <a:ext cx="22860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78308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3977640" y="1783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Stories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Dep Graph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94960" y="2167128"/>
            <a:ext cx="22860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23560" y="178308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18" name="Text 16"/>
          <p:cNvSpPr/>
          <p:nvPr/>
        </p:nvSpPr>
        <p:spPr>
          <a:xfrm>
            <a:off x="5669280" y="1783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/auto Build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086600" y="2167128"/>
            <a:ext cx="228600" cy="0"/>
          </a:xfrm>
          <a:prstGeom prst="line">
            <a:avLst/>
          </a:prstGeom>
          <a:noFill/>
          <a:ln w="19050">
            <a:solidFill>
              <a:srgbClr val="10B98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0" y="178308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1" name="Text 19"/>
          <p:cNvSpPr/>
          <p:nvPr/>
        </p:nvSpPr>
        <p:spPr>
          <a:xfrm>
            <a:off x="7360920" y="1783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 Features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65760" y="3108960"/>
            <a:ext cx="841248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108960"/>
            <a:ext cx="8412480" cy="45720"/>
          </a:xfrm>
          <a:prstGeom prst="rect">
            <a:avLst/>
          </a:prstGeom>
          <a:solidFill>
            <a:srgbClr val="F43F5E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246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3F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Vague or Incomplete Requirements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365760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6576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011680" y="4041648"/>
            <a:ext cx="228600" cy="0"/>
          </a:xfrm>
          <a:prstGeom prst="line">
            <a:avLst/>
          </a:prstGeom>
          <a:noFill/>
          <a:ln w="19050">
            <a:solidFill>
              <a:srgbClr val="F43F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40280" y="365760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36576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3320" y="4041648"/>
            <a:ext cx="228600" cy="0"/>
          </a:xfrm>
          <a:prstGeom prst="line">
            <a:avLst/>
          </a:prstGeom>
          <a:noFill/>
          <a:ln w="19050">
            <a:solidFill>
              <a:srgbClr val="F43F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31920" y="365760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2" name="Text 30"/>
          <p:cNvSpPr/>
          <p:nvPr/>
        </p:nvSpPr>
        <p:spPr>
          <a:xfrm>
            <a:off x="3977640" y="36576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+ Stories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394960" y="4041648"/>
            <a:ext cx="228600" cy="0"/>
          </a:xfrm>
          <a:prstGeom prst="line">
            <a:avLst/>
          </a:prstGeom>
          <a:noFill/>
          <a:ln w="19050">
            <a:solidFill>
              <a:srgbClr val="F43F5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23560" y="365760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0" y="36576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/auto Stalls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Misbuilds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086600" y="4041648"/>
            <a:ext cx="228600" cy="0"/>
          </a:xfrm>
          <a:prstGeom prst="line">
            <a:avLst/>
          </a:prstGeom>
          <a:noFill/>
          <a:ln w="19050">
            <a:solidFill>
              <a:srgbClr val="F43F5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315200" y="3657600"/>
            <a:ext cx="1463040" cy="777240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38" name="Text 36"/>
          <p:cNvSpPr/>
          <p:nvPr/>
        </p:nvSpPr>
        <p:spPr>
          <a:xfrm>
            <a:off x="7360920" y="365760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371600" y="4709160"/>
            <a:ext cx="6400800" cy="3200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0" name="Text 38"/>
          <p:cNvSpPr/>
          <p:nvPr/>
        </p:nvSpPr>
        <p:spPr>
          <a:xfrm>
            <a:off x="1371600" y="47091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Invest in the BRD. The BA/Architect role becomes the highest-leverage position in an agentic pod.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Agentic Pod Changes Delivery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68680"/>
          <a:ext cx="8412480" cy="393192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7490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Agile Pod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3F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Pod + Harness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6-10 people (dedicated)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3-4 people + 7 AI agents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Frontend/Backend Split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Separate devs, handoff overhead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agent generates both, TDD-first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 Process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+ automated by QA engineer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3-layer eval: API + Playwright + Vision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Peer review, async, delays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 evaluator + security reviewer (real-time)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 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Important but recoverable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— drives entire autonomous pipeline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Velocity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 points per sprint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 per ratchet iteration (10-50x)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 reviews, CI checks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hooks + 6 ratchet gates on every edit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Institutional Memory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Wiki, Confluence, tribal knowledge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Append-only learned rules, auto-injected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Recovery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 cycle, re-assign to dev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 self-heal (max 3), extract learned rule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Feature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$$$ (salaries, overhead)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(API tokens, 2 engineers)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972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051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 separation eliminates self-evaluation bias — the single biggest failure mode in agentic builds.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5740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2011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 ratchet guarantees monotonic progress — every commit makes the system strictly better.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2971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quality is the new bottleneck. Invest in the BA/Architect role — it's the highest-leverage position.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7764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280160" y="3931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pod of 3-4 people + 7 AI agents can outpace a 10-person agile team on velocity and quality.</a:t>
            </a:r>
            <a:endParaRPr lang="en-US" sz="1400" dirty="0"/>
          </a:p>
        </p:txBody>
      </p:sp>
      <p:sp>
        <p:nvSpPr>
          <p:cNvPr id="13" name="Text 7"/>
          <p:cNvSpPr/>
          <p:nvPr/>
        </p:nvSpPr>
        <p:spPr>
          <a:xfrm>
            <a:off x="640080" y="4617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Harness Engine v1  —  Autonomous SDLC for the Age of Agents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Harness Engine v1 — SDLC Scaffolding Design</dc:title>
  <dc:subject>PptxGenJS Presentation</dc:subject>
  <dc:creator>Claude Harness Engine</dc:creator>
  <cp:lastModifiedBy>Claude Harness Engine</cp:lastModifiedBy>
  <cp:revision>1</cp:revision>
  <dcterms:created xsi:type="dcterms:W3CDTF">2026-03-29T20:49:54Z</dcterms:created>
  <dcterms:modified xsi:type="dcterms:W3CDTF">2026-03-29T20:49:54Z</dcterms:modified>
</cp:coreProperties>
</file>