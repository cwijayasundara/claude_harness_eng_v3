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1371600"/>
            <a:ext cx="91440" cy="1828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78638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>
                <a:solidFill>
                  <a:srgbClr val="F8FAFC"/>
                </a:solidFill>
                <a:latin typeface="Calibri"/>
              </a:rPr>
              <a:t>Claude Harness Engine v1.1.5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786384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>
                <a:solidFill>
                  <a:srgbClr val="CBD5E1"/>
                </a:solidFill>
                <a:latin typeface="Calibri"/>
              </a:rPr>
              <a:t>Autonomous SDLC Scaffolding for Agentic Software Delivery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23160"/>
            <a:ext cx="78638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38BDF8"/>
                </a:solidFill>
                <a:latin typeface="Calibri"/>
              </a:rPr>
              <a:t>GAN Architecture · Karpathy Ratchet · Agent Teams · Session Chaining · Superpowers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10896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/>
          <a:lstStyle/>
          <a:p>
            <a:pPr algn="ctr"/>
            <a:r>
              <a:rPr sz="1000" b="1">
                <a:solidFill>
                  <a:srgbClr val="0F172A"/>
                </a:solidFill>
                <a:latin typeface="Calibri"/>
              </a:rPr>
              <a:t>23 SKILLS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0" y="310896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/>
          <a:lstStyle/>
          <a:p>
            <a:pPr algn="ctr"/>
            <a:r>
              <a:rPr sz="1000" b="1">
                <a:solidFill>
                  <a:srgbClr val="0F172A"/>
                </a:solidFill>
                <a:latin typeface="Calibri"/>
              </a:rPr>
              <a:t>7 AGENTS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31920" y="310896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/>
          <a:lstStyle/>
          <a:p>
            <a:pPr algn="ctr"/>
            <a:r>
              <a:rPr sz="1000" b="1">
                <a:solidFill>
                  <a:srgbClr val="0F172A"/>
                </a:solidFill>
                <a:latin typeface="Calibri"/>
              </a:rPr>
              <a:t>14 HOOKS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77840" y="310896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/>
          <a:lstStyle/>
          <a:p>
            <a:pPr algn="ctr"/>
            <a:r>
              <a:rPr sz="1000" b="1">
                <a:solidFill>
                  <a:srgbClr val="0F172A"/>
                </a:solidFill>
                <a:latin typeface="Calibri"/>
              </a:rPr>
              <a:t>1 BOOT CMD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23760" y="310896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/>
          <a:lstStyle/>
          <a:p>
            <a:pPr algn="ctr"/>
            <a:r>
              <a:rPr sz="1000" b="1">
                <a:solidFill>
                  <a:srgbClr val="0F172A"/>
                </a:solidFill>
                <a:latin typeface="Calibri"/>
              </a:rPr>
              <a:t>8 PLUGINS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297680"/>
            <a:ext cx="78638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Designed for engineering teams shipping long-running, agentic applications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832104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Calibri"/>
              </a:rPr>
              <a:t>What's New in v1.1.5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85800"/>
            <a:ext cx="83210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38BDF8"/>
                </a:solidFill>
                <a:latin typeface="Calibri"/>
              </a:rPr>
              <a:t>Updates since the original deck — codebase has grown along five axes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188720"/>
            <a:ext cx="2697480" cy="150876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" y="1280160"/>
            <a:ext cx="2368296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38BDF8"/>
                </a:solidFill>
                <a:latin typeface="Calibri"/>
              </a:rPr>
              <a:t>Brownfield Discovery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" y="1572768"/>
            <a:ext cx="2368296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00" b="0">
                <a:solidFill>
                  <a:srgbClr val="CBD5E1"/>
                </a:solidFill>
                <a:latin typeface="Calibri"/>
              </a:rPr>
              <a:t>/brownfield + /code-map + /seam-finder. Deterministic AST + dependency graph + Fowler seam scoring (observable + funnel + R/W asymmetry) ground every brownfield decision in graph evidence, not vibes.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1188720"/>
            <a:ext cx="2697480" cy="150876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64992" y="1280160"/>
            <a:ext cx="2368296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FB923C"/>
                </a:solidFill>
                <a:latin typeface="Calibri"/>
              </a:rPr>
              <a:t>Vibe Lane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64992" y="1572768"/>
            <a:ext cx="2368296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00" b="0">
                <a:solidFill>
                  <a:srgbClr val="CBD5E1"/>
                </a:solidFill>
                <a:latin typeface="Calibri"/>
              </a:rPr>
              <a:t>/vibe — controlled small-change lane with micro-contract, narrow scope, targeted verification, reviewer enforcement.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89320" y="1188720"/>
            <a:ext cx="2697480" cy="150876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53912" y="1280160"/>
            <a:ext cx="2368296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4ADE80"/>
                </a:solidFill>
                <a:latin typeface="Calibri"/>
              </a:rPr>
              <a:t>Superpowers Integration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53912" y="1572768"/>
            <a:ext cx="2368296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00" b="0">
                <a:solidFill>
                  <a:srgbClr val="CBD5E1"/>
                </a:solidFill>
                <a:latin typeface="Calibri"/>
              </a:rPr>
              <a:t>brainstorming · writing-plans · TDD · systematic-debugging · verification-before-completion are invoked at named pipeline stages.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2788920"/>
            <a:ext cx="2697480" cy="150876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6072" y="2880360"/>
            <a:ext cx="2368296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A78BFA"/>
                </a:solidFill>
                <a:latin typeface="Calibri"/>
              </a:rPr>
              <a:t>Lint-Drift Entropy Scanner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72" y="3172968"/>
            <a:ext cx="2368296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00" b="0">
                <a:solidFill>
                  <a:srgbClr val="CBD5E1"/>
                </a:solidFill>
                <a:latin typeface="Calibri"/>
              </a:rPr>
              <a:t>/lint-drift sweeps agent-generated code for pattern drift and ships targeted cleanup PRs.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0" y="2788920"/>
            <a:ext cx="2697480" cy="150876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64992" y="2880360"/>
            <a:ext cx="2368296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FBBF24"/>
                </a:solidFill>
                <a:latin typeface="Calibri"/>
              </a:rPr>
              <a:t>Hardened Runtime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64992" y="3172968"/>
            <a:ext cx="2368296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00" b="0">
                <a:solidFill>
                  <a:srgbClr val="CBD5E1"/>
                </a:solidFill>
                <a:latin typeface="Calibri"/>
              </a:rPr>
              <a:t>14 hooks (was 12): pre-tool length gate, track-writes ledger, require-review Stop hook, sprint-contract-gate on commits.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89320" y="2788920"/>
            <a:ext cx="2697480" cy="150876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53912" y="2880360"/>
            <a:ext cx="2368296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F87171"/>
                </a:solidFill>
                <a:latin typeface="Calibri"/>
              </a:rPr>
              <a:t>Plugin-First Posture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53912" y="3172968"/>
            <a:ext cx="2368296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00" b="0">
                <a:solidFill>
                  <a:srgbClr val="CBD5E1"/>
                </a:solidFill>
                <a:latin typeface="Calibri"/>
              </a:rPr>
              <a:t>8 official Claude Code plugins enabled via settings.json (superpowers, code-review, frontend-design, context7, ...).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4434840"/>
            <a:ext cx="83210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Net effect: full SDLC + adapts to existing codebases + lets humans steer mid-flight.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4846320"/>
            <a:ext cx="594360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Calibri"/>
              </a:rPr>
              <a:t>Claude Harness Engine v1.1.5   ·   Autonomous SDLC for Agentic Software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4846320"/>
            <a:ext cx="100584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Calibri"/>
              </a:rPr>
              <a:t>2 / 30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832104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Calibri"/>
              </a:rPr>
              <a:t>Why Traditional Agent Pods Fall Short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85800"/>
            <a:ext cx="83210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38BDF8"/>
                </a:solidFill>
                <a:latin typeface="Calibri"/>
              </a:rPr>
              <a:t>The four failure modes the harness was built to neutralize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234440"/>
            <a:ext cx="4114800" cy="13716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" y="1325880"/>
            <a:ext cx="3785616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38BDF8"/>
                </a:solidFill>
                <a:latin typeface="Calibri"/>
              </a:rPr>
              <a:t>Self-Evaluation Bias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" y="1618488"/>
            <a:ext cx="3785616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0">
                <a:solidFill>
                  <a:srgbClr val="CBD5E1"/>
                </a:solidFill>
                <a:latin typeface="Calibri"/>
              </a:rPr>
              <a:t>Agents grade their own work, miss critical failures, and declare success prematurely.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17720" y="1234440"/>
            <a:ext cx="4114800" cy="13716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82312" y="1325880"/>
            <a:ext cx="3785616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FB923C"/>
                </a:solidFill>
                <a:latin typeface="Calibri"/>
              </a:rPr>
              <a:t>No Monotonic Progress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82312" y="1618488"/>
            <a:ext cx="3785616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0">
                <a:solidFill>
                  <a:srgbClr val="CBD5E1"/>
                </a:solidFill>
                <a:latin typeface="Calibri"/>
              </a:rPr>
              <a:t>Each iteration can regress prior work. Coverage drops, bugs reappear, features break.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2697480"/>
            <a:ext cx="4114800" cy="13716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6072" y="2788920"/>
            <a:ext cx="3785616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4ADE80"/>
                </a:solidFill>
                <a:latin typeface="Calibri"/>
              </a:rPr>
              <a:t>Context Window Amnesia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" y="3081528"/>
            <a:ext cx="3785616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0">
                <a:solidFill>
                  <a:srgbClr val="CBD5E1"/>
                </a:solidFill>
                <a:latin typeface="Calibri"/>
              </a:rPr>
              <a:t>Long builds lose early decisions. No state survives across sessions.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17720" y="2697480"/>
            <a:ext cx="4114800" cy="13716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82312" y="2788920"/>
            <a:ext cx="3785616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A78BFA"/>
                </a:solidFill>
                <a:latin typeface="Calibri"/>
              </a:rPr>
              <a:t>Flat Team Structure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82312" y="3081528"/>
            <a:ext cx="3785616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0">
                <a:solidFill>
                  <a:srgbClr val="CBD5E1"/>
                </a:solidFill>
                <a:latin typeface="Calibri"/>
              </a:rPr>
              <a:t>All agents share equal authority. No structural separation between creation and verification.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4251960"/>
            <a:ext cx="8321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The harness answers each with structural separation, ratchet gates, append-only state, and explicit role hierarchy.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4846320"/>
            <a:ext cx="594360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Calibri"/>
              </a:rPr>
              <a:t>Claude Harness Engine v1.1.5   ·   Autonomous SDLC for Agentic Software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4846320"/>
            <a:ext cx="100584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Calibri"/>
              </a:rPr>
              <a:t>3 / 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832104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Calibri"/>
              </a:rPr>
              <a:t>Design Philosophy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85800"/>
            <a:ext cx="83210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38BDF8"/>
                </a:solidFill>
                <a:latin typeface="Calibri"/>
              </a:rPr>
              <a:t>Five orthogonal commitments — each subsequent slide traces back to one of these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188720"/>
            <a:ext cx="2697480" cy="14173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" y="1280160"/>
            <a:ext cx="2368296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38BDF8"/>
                </a:solidFill>
                <a:latin typeface="Calibri"/>
              </a:rPr>
              <a:t>GAN Separation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" y="1572768"/>
            <a:ext cx="2368296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00" b="0">
                <a:solidFill>
                  <a:srgbClr val="CBD5E1"/>
                </a:solidFill>
                <a:latin typeface="Calibri"/>
              </a:rPr>
              <a:t>Generator writes code. Evaluator verifies independently. Neither can do the other's job. No self-grading.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1188720"/>
            <a:ext cx="2697480" cy="14173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64992" y="1280160"/>
            <a:ext cx="2368296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FB923C"/>
                </a:solidFill>
                <a:latin typeface="Calibri"/>
              </a:rPr>
              <a:t>Karpathy Ratchet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64992" y="1572768"/>
            <a:ext cx="2368296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00" b="0">
                <a:solidFill>
                  <a:srgbClr val="CBD5E1"/>
                </a:solidFill>
                <a:latin typeface="Calibri"/>
              </a:rPr>
              <a:t>Every metric moves forward, never backward. Monotonic quality improvement enforced by 6 gates.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89320" y="1188720"/>
            <a:ext cx="2697480" cy="14173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53912" y="1280160"/>
            <a:ext cx="2368296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4ADE80"/>
                </a:solidFill>
                <a:latin typeface="Calibri"/>
              </a:rPr>
              <a:t>Institutional Memory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53912" y="1572768"/>
            <a:ext cx="2368296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00" b="0">
                <a:solidFill>
                  <a:srgbClr val="CBD5E1"/>
                </a:solidFill>
                <a:latin typeface="Calibri"/>
              </a:rPr>
              <a:t>Failures become learned-rules.md. Knowledge compounds across sessions and is injected into all future agents.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2697480"/>
            <a:ext cx="2697480" cy="14173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6072" y="2788920"/>
            <a:ext cx="2368296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A78BFA"/>
                </a:solidFill>
                <a:latin typeface="Calibri"/>
              </a:rPr>
              <a:t>Phased Agent Teams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72" y="3081528"/>
            <a:ext cx="2368296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00" b="0">
                <a:solidFill>
                  <a:srgbClr val="CBD5E1"/>
                </a:solidFill>
                <a:latin typeface="Calibri"/>
              </a:rPr>
              <a:t>DAG-driven parallel execution with dependency handshakes between phases. Up to 5 teammates per phase.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0" y="2697480"/>
            <a:ext cx="2697480" cy="14173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64992" y="2788920"/>
            <a:ext cx="2368296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FBBF24"/>
                </a:solidFill>
                <a:latin typeface="Calibri"/>
              </a:rPr>
              <a:t>Skills + Agents + Hooks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64992" y="3081528"/>
            <a:ext cx="2368296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00" b="0">
                <a:solidFill>
                  <a:srgbClr val="CBD5E1"/>
                </a:solidFill>
                <a:latin typeface="Calibri"/>
              </a:rPr>
              <a:t>Claude Code's three primitives composed into a runtime: skills give procedure, agents give specialized models, hooks enforce invariants.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89320" y="2697480"/>
            <a:ext cx="2697480" cy="1417320"/>
          </a:xfrm>
          <a:prstGeom prst="roundRect">
            <a:avLst>
              <a:gd name="adj" fmla="val 6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53912" y="2788920"/>
            <a:ext cx="2377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B923C"/>
                </a:solidFill>
                <a:latin typeface="Calibri"/>
              </a:rPr>
              <a:t>Why this matters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53912" y="3108960"/>
            <a:ext cx="2377440" cy="9601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These five commitments are non-negotiable. Every command, agent, and hook in the codebase is an instance of one of them. If a change would weaken one, it doesn't ship.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4846320"/>
            <a:ext cx="594360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Calibri"/>
              </a:rPr>
              <a:t>Claude Harness Engine v1.1.5   ·   Autonomous SDLC for Agentic Software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4846320"/>
            <a:ext cx="100584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Calibri"/>
              </a:rPr>
              <a:t>4 / 30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832104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Calibri"/>
              </a:rPr>
              <a:t>Repository Layout — Anatomy of `.claude/`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85800"/>
            <a:ext cx="83210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38BDF8"/>
                </a:solidFill>
                <a:latin typeface="Calibri"/>
              </a:rPr>
              <a:t>What gets copied into every scaffolded project. This is the entire harness on disk.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143000"/>
            <a:ext cx="4023360" cy="34747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3749039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38BDF8"/>
                </a:solidFill>
                <a:latin typeface="Consolas"/>
              </a:rPr>
              <a:t>.claude/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3749039" cy="2926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F8FAFC"/>
                </a:solidFill>
                <a:latin typeface="Consolas"/>
              </a:rPr>
              <a:t>├─ .claude-plugin/</a:t>
            </a:r>
            <a:r>
              <a:rPr sz="1000">
                <a:solidFill>
                  <a:srgbClr val="94A3B8"/>
                </a:solidFill>
                <a:latin typeface="Calibri"/>
              </a:rPr>
              <a:t>plugin.json — name, version, description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F8FAFC"/>
                </a:solidFill>
                <a:latin typeface="Consolas"/>
              </a:rPr>
              <a:t>├─ commands/      </a:t>
            </a:r>
            <a:r>
              <a:rPr sz="1000">
                <a:solidFill>
                  <a:srgbClr val="94A3B8"/>
                </a:solidFill>
                <a:latin typeface="Calibri"/>
              </a:rPr>
              <a:t>scaffold.md — only true slash command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F8FAFC"/>
                </a:solidFill>
                <a:latin typeface="Consolas"/>
              </a:rPr>
              <a:t>├─ skills/  (23)  </a:t>
            </a:r>
            <a:r>
              <a:rPr sz="1000">
                <a:solidFill>
                  <a:srgbClr val="94A3B8"/>
                </a:solidFill>
                <a:latin typeface="Calibri"/>
              </a:rPr>
              <a:t>SKILL.md per skill, fork context, optional refs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F8FAFC"/>
                </a:solidFill>
                <a:latin typeface="Consolas"/>
              </a:rPr>
              <a:t>├─ agents/   (7)  </a:t>
            </a:r>
            <a:r>
              <a:rPr sz="1000">
                <a:solidFill>
                  <a:srgbClr val="94A3B8"/>
                </a:solidFill>
                <a:latin typeface="Calibri"/>
              </a:rPr>
              <a:t>.md per agent, frontmatter declares tools+model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F8FAFC"/>
                </a:solidFill>
                <a:latin typeface="Consolas"/>
              </a:rPr>
              <a:t>├─ hooks/   (14)  </a:t>
            </a:r>
            <a:r>
              <a:rPr sz="1000">
                <a:solidFill>
                  <a:srgbClr val="94A3B8"/>
                </a:solidFill>
                <a:latin typeface="Calibri"/>
              </a:rPr>
              <a:t>Node scripts wired in settings.json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F8FAFC"/>
                </a:solidFill>
                <a:latin typeface="Consolas"/>
              </a:rPr>
              <a:t>├─ templates/     </a:t>
            </a:r>
            <a:r>
              <a:rPr sz="1000">
                <a:solidFill>
                  <a:srgbClr val="94A3B8"/>
                </a:solidFill>
                <a:latin typeface="Calibri"/>
              </a:rPr>
              <a:t>sprint-contract.json, story.template.md, ...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F8FAFC"/>
                </a:solidFill>
                <a:latin typeface="Consolas"/>
              </a:rPr>
              <a:t>├─ state/         </a:t>
            </a:r>
            <a:r>
              <a:rPr sz="1000">
                <a:solidFill>
                  <a:srgbClr val="94A3B8"/>
                </a:solidFill>
                <a:latin typeface="Calibri"/>
              </a:rPr>
              <a:t>learned-rules, failures, vibe-log, pending-reviews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F8FAFC"/>
                </a:solidFill>
                <a:latin typeface="Consolas"/>
              </a:rPr>
              <a:t>├─ architecture.md</a:t>
            </a:r>
            <a:r>
              <a:rPr sz="1000">
                <a:solidFill>
                  <a:srgbClr val="94A3B8"/>
                </a:solidFill>
                <a:latin typeface="Calibri"/>
              </a:rPr>
              <a:t>Layer hierarchy + import rules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F8FAFC"/>
                </a:solidFill>
                <a:latin typeface="Consolas"/>
              </a:rPr>
              <a:t>├─ program.md     </a:t>
            </a:r>
            <a:r>
              <a:rPr sz="1000">
                <a:solidFill>
                  <a:srgbClr val="94A3B8"/>
                </a:solidFill>
                <a:latin typeface="Calibri"/>
              </a:rPr>
              <a:t>Karpathy human-agent bridge — edit to steer /auto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F8FAFC"/>
                </a:solidFill>
                <a:latin typeface="Consolas"/>
              </a:rPr>
              <a:t>└─ settings.json  </a:t>
            </a:r>
            <a:r>
              <a:rPr sz="1000">
                <a:solidFill>
                  <a:srgbClr val="94A3B8"/>
                </a:solidFill>
                <a:latin typeface="Calibri"/>
              </a:rPr>
              <a:t>Hook config, permissions, enabled plugins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17720" y="1143000"/>
            <a:ext cx="4114800" cy="16916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1207008"/>
            <a:ext cx="38404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B923C"/>
                </a:solidFill>
                <a:latin typeface="Calibri"/>
              </a:rPr>
              <a:t>Two parallel state systems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508760"/>
            <a:ext cx="3840480" cy="1280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onsolas"/>
              </a:rPr>
              <a:t>Project-side  →  specs/  (BRD, stories, design, reviews, brownfield)
                features.json, claude-progress.txt, sprint-contracts/
Harness-side  →  .claude/state/  (learned-rules, failures, vibe-log,
                pending-reviews.jsonl, iteration-log, coverage-baseline)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17720" y="2971800"/>
            <a:ext cx="4114800" cy="1645920"/>
          </a:xfrm>
          <a:prstGeom prst="roundRect">
            <a:avLst>
              <a:gd name="adj" fmla="val 6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0" y="3035808"/>
            <a:ext cx="38404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BBF24"/>
                </a:solidFill>
                <a:latin typeface="Calibri"/>
              </a:rPr>
              <a:t>Crucial detail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3337560"/>
            <a:ext cx="3840480" cy="11887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specs/  is mutated only by agents (planner, generator, evaluator).
.claude/state/  is mutated by hooks AND agents — it is the durable
ratchet memory across context windows.
program.md  is the only file humans edit during /auto.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4846320"/>
            <a:ext cx="594360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Calibri"/>
              </a:rPr>
              <a:t>Claude Harness Engine v1.1.5   ·   Autonomous SDLC for Agentic Software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4846320"/>
            <a:ext cx="100584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Calibri"/>
              </a:rPr>
              <a:t>5 / 30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832104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Calibri"/>
              </a:rPr>
              <a:t>Runtime Mechanics — How Claude Code Loads the Harness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85800"/>
            <a:ext cx="83210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38BDF8"/>
                </a:solidFill>
                <a:latin typeface="Calibri"/>
              </a:rPr>
              <a:t>Five Claude Code primitives — composed into one autonomous SDLC runtime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143000"/>
            <a:ext cx="1682496" cy="22860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" y="1234440"/>
            <a:ext cx="1353312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38BDF8"/>
                </a:solidFill>
                <a:latin typeface="Calibri"/>
              </a:rPr>
              <a:t>commands/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" y="1527048"/>
            <a:ext cx="135331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00" b="0">
                <a:solidFill>
                  <a:srgbClr val="CBD5E1"/>
                </a:solidFill>
                <a:latin typeface="Calibri"/>
              </a:rPr>
              <a:t>True slash commands.
Claude Code reads frontmatter
and executes the file as a
turn-by-turn instruction.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30552" y="1143000"/>
            <a:ext cx="1682496" cy="22860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95144" y="1234440"/>
            <a:ext cx="1353312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B923C"/>
                </a:solidFill>
                <a:latin typeface="Calibri"/>
              </a:rPr>
              <a:t>skills/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95144" y="1527048"/>
            <a:ext cx="135331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00" b="0">
                <a:solidFill>
                  <a:srgbClr val="CBD5E1"/>
                </a:solidFill>
                <a:latin typeface="Calibri"/>
              </a:rPr>
              <a:t>Skill files surfaced to the
model via the Skill tool.
Claude invokes them on intent
match — they look like commands.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49624" y="1143000"/>
            <a:ext cx="1682496" cy="22860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14216" y="1234440"/>
            <a:ext cx="1353312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4ADE80"/>
                </a:solidFill>
                <a:latin typeface="Calibri"/>
              </a:rPr>
              <a:t>agents/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14216" y="1527048"/>
            <a:ext cx="135331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00" b="0">
                <a:solidFill>
                  <a:srgbClr val="CBD5E1"/>
                </a:solidFill>
                <a:latin typeface="Calibri"/>
              </a:rPr>
              <a:t>Subagents with their own tool
allowlist + model tier.
Spawned via the Agent tool
from skills or other agents.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568696" y="1143000"/>
            <a:ext cx="1682496" cy="22860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33288" y="1234440"/>
            <a:ext cx="1353312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A78BFA"/>
                </a:solidFill>
                <a:latin typeface="Calibri"/>
              </a:rPr>
              <a:t>hooks/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33288" y="1527048"/>
            <a:ext cx="135331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00" b="0">
                <a:solidFill>
                  <a:srgbClr val="CBD5E1"/>
                </a:solidFill>
                <a:latin typeface="Calibri"/>
              </a:rPr>
              <a:t>Node scripts run by Claude
Code at lifecycle events:
PreTool, PostTool, Stop,
TaskCompleted, TeammateIdle.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87768" y="1143000"/>
            <a:ext cx="1682496" cy="22860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52360" y="1234440"/>
            <a:ext cx="1353312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BBF24"/>
                </a:solidFill>
                <a:latin typeface="Calibri"/>
              </a:rPr>
              <a:t>templates/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2360" y="1527048"/>
            <a:ext cx="135331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00" b="0">
                <a:solidFill>
                  <a:srgbClr val="CBD5E1"/>
                </a:solidFill>
                <a:latin typeface="Calibri"/>
              </a:rPr>
              <a:t>Static files (.json, .md)
read by skills and agents
as authoritative scaffolds
(e.g. sprint-contract.json).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3611880"/>
            <a:ext cx="83210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8FAFC"/>
                </a:solidFill>
                <a:latin typeface="Calibri"/>
              </a:rPr>
              <a:t>Lifecycle on a typical turn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" y="3931920"/>
            <a:ext cx="1325880" cy="41148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/>
          <a:lstStyle/>
          <a:p>
            <a:pPr algn="ctr"/>
            <a:r>
              <a:rPr sz="900" b="1">
                <a:solidFill>
                  <a:srgbClr val="0F172A"/>
                </a:solidFill>
                <a:latin typeface="Calibri"/>
              </a:rPr>
              <a:t>User /command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801368" y="3931920"/>
            <a:ext cx="1325880" cy="411480"/>
          </a:xfrm>
          <a:prstGeom prst="roundRect">
            <a:avLst>
              <a:gd name="adj" fmla="val 50000"/>
            </a:avLst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/>
          <a:lstStyle/>
          <a:p>
            <a:pPr algn="ctr"/>
            <a:r>
              <a:rPr sz="900" b="1">
                <a:solidFill>
                  <a:srgbClr val="0F172A"/>
                </a:solidFill>
                <a:latin typeface="Calibri"/>
              </a:rPr>
              <a:t>Claude resolves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191256" y="3931920"/>
            <a:ext cx="1325880" cy="411480"/>
          </a:xfrm>
          <a:prstGeom prst="roundRect">
            <a:avLst>
              <a:gd name="adj" fmla="val 50000"/>
            </a:avLst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/>
          <a:lstStyle/>
          <a:p>
            <a:pPr algn="ctr"/>
            <a:r>
              <a:rPr sz="900" b="1">
                <a:solidFill>
                  <a:srgbClr val="0F172A"/>
                </a:solidFill>
                <a:latin typeface="Calibri"/>
              </a:rPr>
              <a:t>Skill body runs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81144" y="3931920"/>
            <a:ext cx="1325880" cy="411480"/>
          </a:xfrm>
          <a:prstGeom prst="roundRect">
            <a:avLst>
              <a:gd name="adj" fmla="val 50000"/>
            </a:avLst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/>
          <a:lstStyle/>
          <a:p>
            <a:pPr algn="ctr"/>
            <a:r>
              <a:rPr sz="900" b="1">
                <a:solidFill>
                  <a:srgbClr val="0F172A"/>
                </a:solidFill>
                <a:latin typeface="Calibri"/>
              </a:rPr>
              <a:t>Spawns Agent(s)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71032" y="3931920"/>
            <a:ext cx="1325880" cy="411480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/>
          <a:lstStyle/>
          <a:p>
            <a:pPr algn="ctr"/>
            <a:r>
              <a:rPr sz="900" b="1">
                <a:solidFill>
                  <a:srgbClr val="0F172A"/>
                </a:solidFill>
                <a:latin typeface="Calibri"/>
              </a:rPr>
              <a:t>Hooks fire on Edit/Bash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60920" y="3931920"/>
            <a:ext cx="1325880" cy="411480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/>
          <a:lstStyle/>
          <a:p>
            <a:pPr algn="ctr"/>
            <a:r>
              <a:rPr sz="900" b="1">
                <a:solidFill>
                  <a:srgbClr val="0F172A"/>
                </a:solidFill>
                <a:latin typeface="Calibri"/>
              </a:rPr>
              <a:t>Templates / state updated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4846320"/>
            <a:ext cx="594360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Calibri"/>
              </a:rPr>
              <a:t>Claude Harness Engine v1.1.5   ·   Autonomous SDLC for Agentic Software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0" y="4846320"/>
            <a:ext cx="100584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Calibri"/>
              </a:rPr>
              <a:t>6 / 30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832104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Calibri"/>
              </a:rPr>
              <a:t>Why `/scaffold` Is the Only File in `commands/`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85800"/>
            <a:ext cx="83210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38BDF8"/>
                </a:solidFill>
                <a:latin typeface="Calibri"/>
              </a:rPr>
              <a:t>Bootloader vs runtime — the key distinction in the harness design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143000"/>
            <a:ext cx="4114800" cy="338328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207008"/>
            <a:ext cx="3749039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38BDF8"/>
                </a:solidFill>
                <a:latin typeface="Consolas"/>
              </a:rPr>
              <a:t>.claude/commands/scaffold.md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54480"/>
            <a:ext cx="3749039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8FAFC"/>
                </a:solidFill>
                <a:latin typeface="Calibri"/>
              </a:rPr>
              <a:t>The bootloader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20240"/>
            <a:ext cx="3749039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00" b="0">
                <a:solidFill>
                  <a:srgbClr val="CBD5E1"/>
                </a:solidFill>
                <a:latin typeface="Calibri"/>
              </a:rPr>
              <a:t>▸ Asks 5 setup questions (stack, project type, verification, plugins...)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CBD5E1"/>
                </a:solidFill>
                <a:latin typeface="Calibri"/>
              </a:rPr>
              <a:t>▸ Writes project-manifest.json + calibration-profile.json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CBD5E1"/>
                </a:solidFill>
                <a:latin typeface="Calibri"/>
              </a:rPr>
              <a:t>▸ Copies the entire `.claude/` tree into the target project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CBD5E1"/>
                </a:solidFill>
                <a:latin typeface="Calibri"/>
              </a:rPr>
              <a:t>▸ Generates CLAUDE.md, design.md, init.sh, .gitignore, features.json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CBD5E1"/>
                </a:solidFill>
                <a:latin typeface="Calibri"/>
              </a:rPr>
              <a:t>▸ Creates specs/, sprint-contracts/, e2e/ output directories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CBD5E1"/>
                </a:solidFill>
                <a:latin typeface="Calibri"/>
              </a:rPr>
              <a:t>▸ Initializes claude-progress.txt session 0 block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1143000"/>
            <a:ext cx="4069080" cy="338328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0" y="1207008"/>
            <a:ext cx="37033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FB923C"/>
                </a:solidFill>
                <a:latin typeface="Consolas"/>
              </a:rPr>
              <a:t>.claude/skills/*/SKILL.md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1554480"/>
            <a:ext cx="37033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8FAFC"/>
                </a:solidFill>
                <a:latin typeface="Calibri"/>
              </a:rPr>
              <a:t>The runtime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1920240"/>
            <a:ext cx="3703320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00" b="0">
                <a:solidFill>
                  <a:srgbClr val="CBD5E1"/>
                </a:solidFill>
                <a:latin typeface="Calibri"/>
              </a:rPr>
              <a:t>Once `/scaffold` has run once, all subsequent work happens through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CBD5E1"/>
                </a:solidFill>
                <a:latin typeface="Calibri"/>
              </a:rPr>
              <a:t>skills surfaced as virtual slash commands.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CBD5E1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CBD5E1"/>
                </a:solidFill>
                <a:latin typeface="Calibri"/>
              </a:rPr>
              <a:t>Why it works: Claude Code ships with a Skill tool. Any file matching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CBD5E1"/>
                </a:solidFill>
                <a:latin typeface="Calibri"/>
              </a:rPr>
              <a:t>`.claude/skills/&lt;name&gt;/SKILL.md` with a frontmatter `name:` and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CBD5E1"/>
                </a:solidFill>
                <a:latin typeface="Calibri"/>
              </a:rPr>
              <a:t>`description:` becomes invocable. Users type `/&lt;name&gt;` and the harness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CBD5E1"/>
                </a:solidFill>
                <a:latin typeface="Calibri"/>
              </a:rPr>
              <a:t>responds with the skill body — indistinguishable from a real command.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CBD5E1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CBD5E1"/>
                </a:solidFill>
                <a:latin typeface="Calibri"/>
              </a:rPr>
              <a:t>Benefit: skills get progressive disclosure (loaded only when matched),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CBD5E1"/>
                </a:solidFill>
                <a:latin typeface="Calibri"/>
              </a:rPr>
              <a:t>context: fork (isolated sub-context), and `argument-hint` autocomplete.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CBD5E1"/>
                </a:solidFill>
                <a:latin typeface="Calibri"/>
              </a:rPr>
              <a:t>Real `commands/` files would all be loaded into every turn's context.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4846320"/>
            <a:ext cx="594360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Calibri"/>
              </a:rPr>
              <a:t>Claude Harness Engine v1.1.5   ·   Autonomous SDLC for Agentic Software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4846320"/>
            <a:ext cx="100584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Calibri"/>
              </a:rPr>
              <a:t>7 / 30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832104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Calibri"/>
              </a:rPr>
              <a:t>Skills as Virtual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85800"/>
            <a:ext cx="83210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38BDF8"/>
                </a:solidFill>
                <a:latin typeface="Calibri"/>
              </a:rPr>
              <a:t>Frontmatter `name:` becomes the slash command — Claude routes intent automatically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143000"/>
            <a:ext cx="8321040" cy="777240"/>
          </a:xfrm>
          <a:prstGeom prst="roundRect">
            <a:avLst>
              <a:gd name="adj" fmla="val 6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8138160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onsolas"/>
              </a:rPr>
              <a:t>---
name: brownfield
description: Discover and map an existing codebase before planning or changing it.
argument-hint: "[optional-focus-path-or-goal]"
context: fork
agent: planner
---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011680"/>
            <a:ext cx="132588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>
                <a:solidFill>
                  <a:srgbClr val="94A3B8"/>
                </a:solidFill>
                <a:latin typeface="Calibri"/>
              </a:rPr>
              <a:t>INVOKE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2011680"/>
            <a:ext cx="210312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>
                <a:solidFill>
                  <a:srgbClr val="94A3B8"/>
                </a:solidFill>
                <a:latin typeface="Calibri"/>
              </a:rPr>
              <a:t>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011680"/>
            <a:ext cx="132588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>
                <a:solidFill>
                  <a:srgbClr val="94A3B8"/>
                </a:solidFill>
                <a:latin typeface="Calibri"/>
              </a:rPr>
              <a:t>TYPE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66360" y="2011680"/>
            <a:ext cx="356616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>
                <a:solidFill>
                  <a:srgbClr val="94A3B8"/>
                </a:solidFill>
                <a:latin typeface="Calibri"/>
              </a:rPr>
              <a:t>PURPOSE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267712"/>
            <a:ext cx="132588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>
                <a:solidFill>
                  <a:srgbClr val="38BDF8"/>
                </a:solidFill>
                <a:latin typeface="Consolas"/>
              </a:rPr>
              <a:t>/scaffold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2267712"/>
            <a:ext cx="210312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onsolas"/>
              </a:rPr>
              <a:t>commands/scaffold.md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2267712"/>
            <a:ext cx="132588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F8FAFC"/>
                </a:solidFill>
                <a:latin typeface="Calibri"/>
              </a:rPr>
              <a:t>Real command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66360" y="2267712"/>
            <a:ext cx="356616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alibri"/>
              </a:rPr>
              <a:t>Bootstrap a project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2409444"/>
            <a:ext cx="132588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>
                <a:solidFill>
                  <a:srgbClr val="FB923C"/>
                </a:solidFill>
                <a:latin typeface="Consolas"/>
              </a:rPr>
              <a:t>/brd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2409444"/>
            <a:ext cx="210312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onsolas"/>
              </a:rPr>
              <a:t>skills/brd/SKILL.md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2409444"/>
            <a:ext cx="132588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F8FAFC"/>
                </a:solidFill>
                <a:latin typeface="Calibri"/>
              </a:rPr>
              <a:t>Skill (virtual)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66360" y="2409444"/>
            <a:ext cx="356616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alibri"/>
              </a:rPr>
              <a:t>Socratic BRD interview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2551176"/>
            <a:ext cx="132588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>
                <a:solidFill>
                  <a:srgbClr val="FB923C"/>
                </a:solidFill>
                <a:latin typeface="Consolas"/>
              </a:rPr>
              <a:t>/spec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2551176"/>
            <a:ext cx="210312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onsolas"/>
              </a:rPr>
              <a:t>skills/spec/SKILL.md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0" y="2551176"/>
            <a:ext cx="132588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F8FAFC"/>
                </a:solidFill>
                <a:latin typeface="Calibri"/>
              </a:rPr>
              <a:t>Skill (virtual)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66360" y="2551176"/>
            <a:ext cx="356616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alibri"/>
              </a:rPr>
              <a:t>BRD → stories + dep graph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2692908"/>
            <a:ext cx="132588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>
                <a:solidFill>
                  <a:srgbClr val="FB923C"/>
                </a:solidFill>
                <a:latin typeface="Consolas"/>
              </a:rPr>
              <a:t>/design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37360" y="2692908"/>
            <a:ext cx="210312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onsolas"/>
              </a:rPr>
              <a:t>skills/design/SKILL.md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0" y="2692908"/>
            <a:ext cx="132588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F8FAFC"/>
                </a:solidFill>
                <a:latin typeface="Calibri"/>
              </a:rPr>
              <a:t>Skill (virtual)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66360" y="2692908"/>
            <a:ext cx="356616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alibri"/>
              </a:rPr>
              <a:t>Architecture + mockups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2834640"/>
            <a:ext cx="132588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>
                <a:solidFill>
                  <a:srgbClr val="FB923C"/>
                </a:solidFill>
                <a:latin typeface="Consolas"/>
              </a:rPr>
              <a:t>/build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37360" y="2834640"/>
            <a:ext cx="210312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onsolas"/>
              </a:rPr>
              <a:t>skills/build/SKILL.md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40480" y="2834640"/>
            <a:ext cx="132588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F8FAFC"/>
                </a:solidFill>
                <a:latin typeface="Calibri"/>
              </a:rPr>
              <a:t>Skill (virtual)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66360" y="2834640"/>
            <a:ext cx="356616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alibri"/>
              </a:rPr>
              <a:t>9-phase pipeline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" y="2976372"/>
            <a:ext cx="132588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>
                <a:solidFill>
                  <a:srgbClr val="FB923C"/>
                </a:solidFill>
                <a:latin typeface="Consolas"/>
              </a:rPr>
              <a:t>/auto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37360" y="2976372"/>
            <a:ext cx="210312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onsolas"/>
              </a:rPr>
              <a:t>skills/auto/SKILL.md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40480" y="2976372"/>
            <a:ext cx="132588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F8FAFC"/>
                </a:solidFill>
                <a:latin typeface="Calibri"/>
              </a:rPr>
              <a:t>Skill (virtual)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66360" y="2976372"/>
            <a:ext cx="356616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alibri"/>
              </a:rPr>
              <a:t>Autonomous ratchet loop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" y="3118104"/>
            <a:ext cx="132588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>
                <a:solidFill>
                  <a:srgbClr val="FB923C"/>
                </a:solidFill>
                <a:latin typeface="Consolas"/>
              </a:rPr>
              <a:t>/implement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737360" y="3118104"/>
            <a:ext cx="210312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onsolas"/>
              </a:rPr>
              <a:t>skills/implement/SKILL.md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40480" y="3118104"/>
            <a:ext cx="132588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F8FAFC"/>
                </a:solidFill>
                <a:latin typeface="Calibri"/>
              </a:rPr>
              <a:t>Skill (virtual)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66360" y="3118104"/>
            <a:ext cx="356616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alibri"/>
              </a:rPr>
              <a:t>Spawn agent team for group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1480" y="3259836"/>
            <a:ext cx="132588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>
                <a:solidFill>
                  <a:srgbClr val="FB923C"/>
                </a:solidFill>
                <a:latin typeface="Consolas"/>
              </a:rPr>
              <a:t>/evaluate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37360" y="3259836"/>
            <a:ext cx="210312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onsolas"/>
              </a:rPr>
              <a:t>skills/evaluate/SKILL.md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40480" y="3259836"/>
            <a:ext cx="132588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F8FAFC"/>
                </a:solidFill>
                <a:latin typeface="Calibri"/>
              </a:rPr>
              <a:t>Skill (virtual)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66360" y="3259836"/>
            <a:ext cx="356616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alibri"/>
              </a:rPr>
              <a:t>Run app, verify contract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1480" y="3401568"/>
            <a:ext cx="132588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>
                <a:solidFill>
                  <a:srgbClr val="FB923C"/>
                </a:solidFill>
                <a:latin typeface="Consolas"/>
              </a:rPr>
              <a:t>/review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737360" y="3401568"/>
            <a:ext cx="210312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onsolas"/>
              </a:rPr>
              <a:t>skills/review/SKILL.md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840480" y="3401568"/>
            <a:ext cx="132588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F8FAFC"/>
                </a:solidFill>
                <a:latin typeface="Calibri"/>
              </a:rPr>
              <a:t>Skill (virtual)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66360" y="3401568"/>
            <a:ext cx="356616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alibri"/>
              </a:rPr>
              <a:t>Evaluator + security scan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11480" y="3543300"/>
            <a:ext cx="132588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>
                <a:solidFill>
                  <a:srgbClr val="FB923C"/>
                </a:solidFill>
                <a:latin typeface="Consolas"/>
              </a:rPr>
              <a:t>/test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737360" y="3543300"/>
            <a:ext cx="210312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onsolas"/>
              </a:rPr>
              <a:t>skills/test/SKILL.md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840480" y="3543300"/>
            <a:ext cx="132588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F8FAFC"/>
                </a:solidFill>
                <a:latin typeface="Calibri"/>
              </a:rPr>
              <a:t>Skill (virtual)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66360" y="3543300"/>
            <a:ext cx="356616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alibri"/>
              </a:rPr>
              <a:t>Test plan + Playwright E2E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11480" y="3685032"/>
            <a:ext cx="132588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>
                <a:solidFill>
                  <a:srgbClr val="FB923C"/>
                </a:solidFill>
                <a:latin typeface="Consolas"/>
              </a:rPr>
              <a:t>/deploy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737360" y="3685032"/>
            <a:ext cx="210312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onsolas"/>
              </a:rPr>
              <a:t>skills/deploy/SKILL.md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840480" y="3685032"/>
            <a:ext cx="132588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F8FAFC"/>
                </a:solidFill>
                <a:latin typeface="Calibri"/>
              </a:rPr>
              <a:t>Skill (virtual)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166360" y="3685032"/>
            <a:ext cx="356616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alibri"/>
              </a:rPr>
              <a:t>Docker Compose + init.sh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11480" y="3826764"/>
            <a:ext cx="132588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>
                <a:solidFill>
                  <a:srgbClr val="4ADE80"/>
                </a:solidFill>
                <a:latin typeface="Consolas"/>
              </a:rPr>
              <a:t>/brownfield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737360" y="3826764"/>
            <a:ext cx="210312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onsolas"/>
              </a:rPr>
              <a:t>skills/brownfield/SKILL.md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840480" y="3826764"/>
            <a:ext cx="132588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F8FAFC"/>
                </a:solidFill>
                <a:latin typeface="Calibri"/>
              </a:rPr>
              <a:t>Skill (virtual)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166360" y="3826764"/>
            <a:ext cx="356616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alibri"/>
              </a:rPr>
              <a:t>Map an existing codebase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11480" y="3968496"/>
            <a:ext cx="132588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>
                <a:solidFill>
                  <a:srgbClr val="4ADE80"/>
                </a:solidFill>
                <a:latin typeface="Consolas"/>
              </a:rPr>
              <a:t>/vibe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737360" y="3968496"/>
            <a:ext cx="210312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onsolas"/>
              </a:rPr>
              <a:t>skills/vibe/SKILL.md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840480" y="3968496"/>
            <a:ext cx="132588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F8FAFC"/>
                </a:solidFill>
                <a:latin typeface="Calibri"/>
              </a:rPr>
              <a:t>Skill (virtual)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166360" y="3968496"/>
            <a:ext cx="356616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alibri"/>
              </a:rPr>
              <a:t>Controlled small-change lane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11480" y="4110228"/>
            <a:ext cx="132588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>
                <a:solidFill>
                  <a:srgbClr val="4ADE80"/>
                </a:solidFill>
                <a:latin typeface="Consolas"/>
              </a:rPr>
              <a:t>/clarify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737360" y="4110228"/>
            <a:ext cx="210312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onsolas"/>
              </a:rPr>
              <a:t>skills/clarify/SKILL.md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840480" y="4110228"/>
            <a:ext cx="132588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F8FAFC"/>
                </a:solidFill>
                <a:latin typeface="Calibri"/>
              </a:rPr>
              <a:t>Skill (virtual)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166360" y="4110228"/>
            <a:ext cx="356616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alibri"/>
              </a:rPr>
              <a:t>Bounded clarification gate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11480" y="4251960"/>
            <a:ext cx="132588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>
                <a:solidFill>
                  <a:srgbClr val="A78BFA"/>
                </a:solidFill>
                <a:latin typeface="Consolas"/>
              </a:rPr>
              <a:t>/fix-issue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737360" y="4251960"/>
            <a:ext cx="210312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onsolas"/>
              </a:rPr>
              <a:t>skills/fix-issue/SKILL.md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840480" y="4251960"/>
            <a:ext cx="132588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F8FAFC"/>
                </a:solidFill>
                <a:latin typeface="Calibri"/>
              </a:rPr>
              <a:t>Skill (virtual)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166360" y="4251960"/>
            <a:ext cx="356616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alibri"/>
              </a:rPr>
              <a:t>GitHub issue workflow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11480" y="4393692"/>
            <a:ext cx="132588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>
                <a:solidFill>
                  <a:srgbClr val="A78BFA"/>
                </a:solidFill>
                <a:latin typeface="Consolas"/>
              </a:rPr>
              <a:t>/refactor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737360" y="4393692"/>
            <a:ext cx="210312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onsolas"/>
              </a:rPr>
              <a:t>skills/refactor/SKILL.md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840480" y="4393692"/>
            <a:ext cx="132588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F8FAFC"/>
                </a:solidFill>
                <a:latin typeface="Calibri"/>
              </a:rPr>
              <a:t>Skill (virtual)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166360" y="4393692"/>
            <a:ext cx="356616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alibri"/>
              </a:rPr>
              <a:t>Quality-driven refactor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11480" y="4535424"/>
            <a:ext cx="132588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>
                <a:solidFill>
                  <a:srgbClr val="A78BFA"/>
                </a:solidFill>
                <a:latin typeface="Consolas"/>
              </a:rPr>
              <a:t>/improve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737360" y="4535424"/>
            <a:ext cx="210312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onsolas"/>
              </a:rPr>
              <a:t>skills/improve/SKILL.md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840480" y="4535424"/>
            <a:ext cx="132588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F8FAFC"/>
                </a:solidFill>
                <a:latin typeface="Calibri"/>
              </a:rPr>
              <a:t>Skill (virtual)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166360" y="4535424"/>
            <a:ext cx="356616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alibri"/>
              </a:rPr>
              <a:t>Story-driven enhancement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11480" y="4677156"/>
            <a:ext cx="132588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>
                <a:solidFill>
                  <a:srgbClr val="A78BFA"/>
                </a:solidFill>
                <a:latin typeface="Consolas"/>
              </a:rPr>
              <a:t>/lint-drift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737360" y="4677156"/>
            <a:ext cx="210312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onsolas"/>
              </a:rPr>
              <a:t>skills/lint-drift/SKILL.md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840480" y="4677156"/>
            <a:ext cx="132588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F8FAFC"/>
                </a:solidFill>
                <a:latin typeface="Calibri"/>
              </a:rPr>
              <a:t>Skill (virtual)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166360" y="4677156"/>
            <a:ext cx="3566160" cy="1417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alibri"/>
              </a:rPr>
              <a:t>Pattern-drift entropy scan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11480" y="4846320"/>
            <a:ext cx="594360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Calibri"/>
              </a:rPr>
              <a:t>Claude Harness Engine v1.1.5   ·   Autonomous SDLC for Agentic Software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772400" y="4846320"/>
            <a:ext cx="100584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Calibri"/>
              </a:rPr>
              <a:t>8 / 30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832104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Calibri"/>
              </a:rPr>
              <a:t>The 23 Skills, Grouped by Purpose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85800"/>
            <a:ext cx="83210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38BDF8"/>
                </a:solidFill>
                <a:latin typeface="Calibri"/>
              </a:rPr>
              <a:t>Lifecycle skills + reference skills — only one file in `commands/` is required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143000"/>
            <a:ext cx="2011680" cy="32461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7373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38BDF8"/>
                </a:solidFill>
                <a:latin typeface="Calibri"/>
              </a:rPr>
              <a:t>Pipeline (full SDLC)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173736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00" b="0">
                <a:solidFill>
                  <a:srgbClr val="F8FAFC"/>
                </a:solidFill>
                <a:latin typeface="Consolas"/>
              </a:rPr>
              <a:t>▸ /build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F8FAFC"/>
                </a:solidFill>
                <a:latin typeface="Consolas"/>
              </a:rPr>
              <a:t>▸ /brd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F8FAFC"/>
                </a:solidFill>
                <a:latin typeface="Consolas"/>
              </a:rPr>
              <a:t>▸ /spec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F8FAFC"/>
                </a:solidFill>
                <a:latin typeface="Consolas"/>
              </a:rPr>
              <a:t>▸ /design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F8FAFC"/>
                </a:solidFill>
                <a:latin typeface="Consolas"/>
              </a:rPr>
              <a:t>▸ /implement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F8FAFC"/>
                </a:solidFill>
                <a:latin typeface="Consolas"/>
              </a:rPr>
              <a:t>▸ /evaluate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F8FAFC"/>
                </a:solidFill>
                <a:latin typeface="Consolas"/>
              </a:rPr>
              <a:t>▸ /review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F8FAFC"/>
                </a:solidFill>
                <a:latin typeface="Consolas"/>
              </a:rPr>
              <a:t>▸ /test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F8FAFC"/>
                </a:solidFill>
                <a:latin typeface="Consolas"/>
              </a:rPr>
              <a:t>▸ /deploy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F8FAFC"/>
                </a:solidFill>
                <a:latin typeface="Consolas"/>
              </a:rPr>
              <a:t>▸ /auto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14600" y="1143000"/>
            <a:ext cx="2011680" cy="32461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51760" y="1234440"/>
            <a:ext cx="17373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4ADE80"/>
                </a:solidFill>
                <a:latin typeface="Calibri"/>
              </a:rPr>
              <a:t>Discovery &amp; Lanes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1600200"/>
            <a:ext cx="173736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00" b="0">
                <a:solidFill>
                  <a:srgbClr val="F8FAFC"/>
                </a:solidFill>
                <a:latin typeface="Consolas"/>
              </a:rPr>
              <a:t>▸ /brownfield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F8FAFC"/>
                </a:solidFill>
                <a:latin typeface="Consolas"/>
              </a:rPr>
              <a:t>▸ /vibe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F8FAFC"/>
                </a:solidFill>
                <a:latin typeface="Consolas"/>
              </a:rPr>
              <a:t>▸ /clarify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F8FAFC"/>
                </a:solidFill>
                <a:latin typeface="Consolas"/>
              </a:rPr>
              <a:t>▸ /code-map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F8FAFC"/>
                </a:solidFill>
                <a:latin typeface="Consolas"/>
              </a:rPr>
              <a:t>▸ /seam-finder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17720" y="1143000"/>
            <a:ext cx="2011680" cy="32461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0" y="1234440"/>
            <a:ext cx="17373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A78BFA"/>
                </a:solidFill>
                <a:latin typeface="Calibri"/>
              </a:rPr>
              <a:t>Maintenance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1600200"/>
            <a:ext cx="173736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00" b="0">
                <a:solidFill>
                  <a:srgbClr val="F8FAFC"/>
                </a:solidFill>
                <a:latin typeface="Consolas"/>
              </a:rPr>
              <a:t>▸ /fix-issue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F8FAFC"/>
                </a:solidFill>
                <a:latin typeface="Consolas"/>
              </a:rPr>
              <a:t>▸ /refactor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F8FAFC"/>
                </a:solidFill>
                <a:latin typeface="Consolas"/>
              </a:rPr>
              <a:t>▸ /improve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F8FAFC"/>
                </a:solidFill>
                <a:latin typeface="Consolas"/>
              </a:rPr>
              <a:t>▸ /lint-drift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20840" y="1143000"/>
            <a:ext cx="2011680" cy="32461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0" y="1234440"/>
            <a:ext cx="17373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BBF24"/>
                </a:solidFill>
                <a:latin typeface="Calibri"/>
              </a:rPr>
              <a:t>Reference (no slash)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1600200"/>
            <a:ext cx="173736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00" b="0">
                <a:solidFill>
                  <a:srgbClr val="F8FAFC"/>
                </a:solidFill>
                <a:latin typeface="Consolas"/>
              </a:rPr>
              <a:t>▸ /architecture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F8FAFC"/>
                </a:solidFill>
                <a:latin typeface="Consolas"/>
              </a:rPr>
              <a:t>▸ /code-gen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F8FAFC"/>
                </a:solidFill>
                <a:latin typeface="Consolas"/>
              </a:rPr>
              <a:t>▸ /evaluation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F8FAFC"/>
                </a:solidFill>
                <a:latin typeface="Consolas"/>
              </a:rPr>
              <a:t>▸ /testing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4526280"/>
            <a:ext cx="83210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Reference skills (architecture, code-gen, evaluation, testing) carry no `/slash` — they are read by agents inline.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4846320"/>
            <a:ext cx="594360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Calibri"/>
              </a:rPr>
              <a:t>Claude Harness Engine v1.1.5   ·   Autonomous SDLC for Agentic Software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4846320"/>
            <a:ext cx="100584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Calibri"/>
              </a:rPr>
              <a:t>9 / 30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832104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Calibri"/>
              </a:rPr>
              <a:t>Agent Activation — How a Skill Spawns an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85800"/>
            <a:ext cx="83210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38BDF8"/>
                </a:solidFill>
                <a:latin typeface="Calibri"/>
              </a:rPr>
              <a:t>From slash command to a constrained subagent with its own tool allowlist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188720"/>
            <a:ext cx="1325880" cy="10058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1234440" cy="8686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00" b="0">
                <a:solidFill>
                  <a:srgbClr val="CBD5E1"/>
                </a:solidFill>
                <a:latin typeface="Calibri"/>
              </a:rPr>
              <a:t>1. User types
/auto</a:t>
            </a:r>
          </a:p>
        </p:txBody>
      </p:sp>
      <p:sp>
        <p:nvSpPr>
          <p:cNvPr id="8" name="Oval 7"/>
          <p:cNvSpPr/>
          <p:nvPr/>
        </p:nvSpPr>
        <p:spPr>
          <a:xfrm>
            <a:off x="502920" y="1298448"/>
            <a:ext cx="109728" cy="109728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792224" y="1188720"/>
            <a:ext cx="1325880" cy="10058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37944" y="1280160"/>
            <a:ext cx="1234440" cy="8686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00" b="0">
                <a:solidFill>
                  <a:srgbClr val="CBD5E1"/>
                </a:solidFill>
                <a:latin typeface="Calibri"/>
              </a:rPr>
              <a:t>2. Skill tool resolves
skills/auto/SKILL.md</a:t>
            </a:r>
          </a:p>
        </p:txBody>
      </p:sp>
      <p:sp>
        <p:nvSpPr>
          <p:cNvPr id="11" name="Oval 10"/>
          <p:cNvSpPr/>
          <p:nvPr/>
        </p:nvSpPr>
        <p:spPr>
          <a:xfrm>
            <a:off x="1883664" y="1298448"/>
            <a:ext cx="109728" cy="109728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172968" y="1188720"/>
            <a:ext cx="1325880" cy="10058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18688" y="1280160"/>
            <a:ext cx="1234440" cy="8686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00" b="0">
                <a:solidFill>
                  <a:srgbClr val="CBD5E1"/>
                </a:solidFill>
                <a:latin typeface="Calibri"/>
              </a:rPr>
              <a:t>3. Skill body executes
(reads program.md,
learned-rules)</a:t>
            </a:r>
          </a:p>
        </p:txBody>
      </p:sp>
      <p:sp>
        <p:nvSpPr>
          <p:cNvPr id="14" name="Oval 13"/>
          <p:cNvSpPr/>
          <p:nvPr/>
        </p:nvSpPr>
        <p:spPr>
          <a:xfrm>
            <a:off x="3264408" y="1298448"/>
            <a:ext cx="109728" cy="109728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53712" y="1188720"/>
            <a:ext cx="1325880" cy="10058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99432" y="1280160"/>
            <a:ext cx="1234440" cy="8686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00" b="0">
                <a:solidFill>
                  <a:srgbClr val="CBD5E1"/>
                </a:solidFill>
                <a:latin typeface="Calibri"/>
              </a:rPr>
              <a:t>4. Skill calls Agent tool
subagent_type='generator'</a:t>
            </a:r>
          </a:p>
        </p:txBody>
      </p:sp>
      <p:sp>
        <p:nvSpPr>
          <p:cNvPr id="17" name="Oval 16"/>
          <p:cNvSpPr/>
          <p:nvPr/>
        </p:nvSpPr>
        <p:spPr>
          <a:xfrm>
            <a:off x="4645152" y="1298448"/>
            <a:ext cx="109728" cy="109728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934456" y="1188720"/>
            <a:ext cx="1325880" cy="10058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80176" y="1280160"/>
            <a:ext cx="1234440" cy="8686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00" b="0">
                <a:solidFill>
                  <a:srgbClr val="CBD5E1"/>
                </a:solidFill>
                <a:latin typeface="Calibri"/>
              </a:rPr>
              <a:t>5. Generator runs in
fork context with its
own tool allowlist</a:t>
            </a:r>
          </a:p>
        </p:txBody>
      </p:sp>
      <p:sp>
        <p:nvSpPr>
          <p:cNvPr id="20" name="Oval 19"/>
          <p:cNvSpPr/>
          <p:nvPr/>
        </p:nvSpPr>
        <p:spPr>
          <a:xfrm>
            <a:off x="6025896" y="1298448"/>
            <a:ext cx="109728" cy="109728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315200" y="1188720"/>
            <a:ext cx="1325880" cy="10058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60920" y="1280160"/>
            <a:ext cx="1234440" cy="8686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00" b="0">
                <a:solidFill>
                  <a:srgbClr val="CBD5E1"/>
                </a:solidFill>
                <a:latin typeface="Calibri"/>
              </a:rPr>
              <a:t>6. Agent emits result
back to /auto</a:t>
            </a:r>
          </a:p>
        </p:txBody>
      </p:sp>
      <p:sp>
        <p:nvSpPr>
          <p:cNvPr id="23" name="Oval 22"/>
          <p:cNvSpPr/>
          <p:nvPr/>
        </p:nvSpPr>
        <p:spPr>
          <a:xfrm>
            <a:off x="7406640" y="1298448"/>
            <a:ext cx="109728" cy="109728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11480" y="2423160"/>
            <a:ext cx="4114800" cy="2194560"/>
          </a:xfrm>
          <a:prstGeom prst="roundRect">
            <a:avLst>
              <a:gd name="adj" fmla="val 6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2487168"/>
            <a:ext cx="384048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38BDF8"/>
                </a:solidFill>
                <a:latin typeface="Calibri"/>
              </a:rPr>
              <a:t>Agent frontmatter is the contract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2788920"/>
            <a:ext cx="3840480" cy="1828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onsolas"/>
              </a:rPr>
              <a:t>---
name: evaluator
description: Skeptical verifier that runs the
  application and checks sprint contract criteria...
tools:
  - Read
  - Bash
  - mcp__plugin_playwright_playwright__browser_navigate
  - mcp__plugin_playwright_playwright__browser_click
  - mcp__plugin_playwright_playwright__browser_snapshot
---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663440" y="2423160"/>
            <a:ext cx="4069080" cy="219456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00600" y="2487168"/>
            <a:ext cx="379476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B923C"/>
                </a:solidFill>
                <a:latin typeface="Calibri"/>
              </a:rPr>
              <a:t>What the runtime guarantees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00600" y="2788920"/>
            <a:ext cx="379476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00" b="0">
                <a:solidFill>
                  <a:srgbClr val="CBD5E1"/>
                </a:solidFill>
                <a:latin typeface="Calibri"/>
              </a:rPr>
              <a:t>▸ Agents only see tools listed in their frontmatter — others raise.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CBD5E1"/>
                </a:solidFill>
                <a:latin typeface="Calibri"/>
              </a:rPr>
              <a:t>▸ `context: fork` skills run agents in a sub-context: parent is unaffected.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CBD5E1"/>
                </a:solidFill>
                <a:latin typeface="Calibri"/>
              </a:rPr>
              <a:t>▸ Model tier (Opus / Sonnet / Haiku) is set per-agent, not per-skill.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CBD5E1"/>
                </a:solidFill>
                <a:latin typeface="Calibri"/>
              </a:rPr>
              <a:t>▸ Skills inject `learned-rules.md` verbatim into every agent prompt.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CBD5E1"/>
                </a:solidFill>
                <a:latin typeface="Calibri"/>
              </a:rPr>
              <a:t>▸ Hooks still fire inside the subagent on Edit / Write / Bash.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CBD5E1"/>
                </a:solidFill>
                <a:latin typeface="Calibri"/>
              </a:rPr>
              <a:t>▸ Output returns to caller as a structured tool result — not free text.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4846320"/>
            <a:ext cx="594360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Calibri"/>
              </a:rPr>
              <a:t>Claude Harness Engine v1.1.5   ·   Autonomous SDLC for Agentic Software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0" y="4846320"/>
            <a:ext cx="100584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Calibri"/>
              </a:rPr>
              <a:t>10 / 30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832104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Calibri"/>
              </a:rPr>
              <a:t>The 7 Agents — Roles, Models, Tool Grants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85800"/>
            <a:ext cx="83210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38BDF8"/>
                </a:solidFill>
                <a:latin typeface="Calibri"/>
              </a:rPr>
              <a:t>Frontmatter declares both. Generator can spawn other agents via the Agent tool; others cannot.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188720"/>
            <a:ext cx="141732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94A3B8"/>
                </a:solidFill>
                <a:latin typeface="Calibri"/>
              </a:rPr>
              <a:t>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188720"/>
            <a:ext cx="77724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94A3B8"/>
                </a:solidFill>
                <a:latin typeface="Calibri"/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06040" y="1188720"/>
            <a:ext cx="283464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94A3B8"/>
                </a:solidFill>
                <a:latin typeface="Calibri"/>
              </a:rPr>
              <a:t>KEY TOOL GRANTS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40680" y="1188720"/>
            <a:ext cx="3749039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94A3B8"/>
                </a:solidFill>
                <a:latin typeface="Calibri"/>
              </a:rPr>
              <a:t>RESPONSIBILITY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444752"/>
            <a:ext cx="8412480" cy="402336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481328"/>
            <a:ext cx="14173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38BDF8"/>
                </a:solidFill>
                <a:latin typeface="Consolas"/>
              </a:rPr>
              <a:t>planner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1481328"/>
            <a:ext cx="7772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F8FAFC"/>
                </a:solidFill>
                <a:latin typeface="Calibri"/>
              </a:rPr>
              <a:t>Opus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06040" y="1481328"/>
            <a:ext cx="28346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alibri"/>
              </a:rPr>
              <a:t>Read · Write · Glob · Grep · Bash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40680" y="1481328"/>
            <a:ext cx="3749039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alibri"/>
              </a:rPr>
              <a:t>BRD · stories · dep graph · architecture · schemas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1901952"/>
            <a:ext cx="8412480" cy="402336"/>
          </a:xfrm>
          <a:prstGeom prst="roundRect">
            <a:avLst>
              <a:gd name="adj" fmla="val 6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1938528"/>
            <a:ext cx="14173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B923C"/>
                </a:solidFill>
                <a:latin typeface="Consolas"/>
              </a:rPr>
              <a:t>generator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1938528"/>
            <a:ext cx="7772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F8FAFC"/>
                </a:solidFill>
                <a:latin typeface="Calibri"/>
              </a:rPr>
              <a:t>Sonnet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06040" y="1938528"/>
            <a:ext cx="28346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alibri"/>
              </a:rPr>
              <a:t>+ Edit · Agent (spawns teammates)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40680" y="1938528"/>
            <a:ext cx="3749039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alibri"/>
              </a:rPr>
              <a:t>Implements code + tests · spawns agent team · TDD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2359152"/>
            <a:ext cx="8412480" cy="402336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2395728"/>
            <a:ext cx="14173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4ADE80"/>
                </a:solidFill>
                <a:latin typeface="Consolas"/>
              </a:rPr>
              <a:t>evaluator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2395728"/>
            <a:ext cx="7772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F8FAFC"/>
                </a:solidFill>
                <a:latin typeface="Calibri"/>
              </a:rPr>
              <a:t>Opus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06040" y="2395728"/>
            <a:ext cx="28346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alibri"/>
              </a:rPr>
              <a:t>+ Playwright MCP (navigate, click, fill, snap)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2395728"/>
            <a:ext cx="3749039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alibri"/>
              </a:rPr>
              <a:t>Runs app · 3-layer verification · structured failures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2816352"/>
            <a:ext cx="8412480" cy="402336"/>
          </a:xfrm>
          <a:prstGeom prst="roundRect">
            <a:avLst>
              <a:gd name="adj" fmla="val 6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2852928"/>
            <a:ext cx="14173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A78BFA"/>
                </a:solidFill>
                <a:latin typeface="Consolas"/>
              </a:rPr>
              <a:t>design-critic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2852928"/>
            <a:ext cx="7772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F8FAFC"/>
                </a:solidFill>
                <a:latin typeface="Calibri"/>
              </a:rPr>
              <a:t>Opus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06040" y="2852928"/>
            <a:ext cx="28346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alibri"/>
              </a:rPr>
              <a:t>+ Playwright MCP (resize, hover, screenshot)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40680" y="2852928"/>
            <a:ext cx="3749039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alibri"/>
              </a:rPr>
              <a:t>GAN scoring (DQ/O/C/F) · plateau pivot · 4 criteria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65760" y="3273552"/>
            <a:ext cx="8412480" cy="402336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3310128"/>
            <a:ext cx="14173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BBF24"/>
                </a:solidFill>
                <a:latin typeface="Consolas"/>
              </a:rPr>
              <a:t>ui-designer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28800" y="3310128"/>
            <a:ext cx="7772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F8FAFC"/>
                </a:solidFill>
                <a:latin typeface="Calibri"/>
              </a:rPr>
              <a:t>Sonnet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06040" y="3310128"/>
            <a:ext cx="28346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alibri"/>
              </a:rPr>
              <a:t>Read · Write · Glob · Grep · Bash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40680" y="3310128"/>
            <a:ext cx="3749039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alibri"/>
              </a:rPr>
              <a:t>React+Tailwind HTML mockups · aesthetic direction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65760" y="3730752"/>
            <a:ext cx="8412480" cy="402336"/>
          </a:xfrm>
          <a:prstGeom prst="roundRect">
            <a:avLst>
              <a:gd name="adj" fmla="val 6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1480" y="3767328"/>
            <a:ext cx="14173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87171"/>
                </a:solidFill>
                <a:latin typeface="Consolas"/>
              </a:rPr>
              <a:t>test-engineer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828800" y="3767328"/>
            <a:ext cx="7772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F8FAFC"/>
                </a:solidFill>
                <a:latin typeface="Calibri"/>
              </a:rPr>
              <a:t>Sonnet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06040" y="3767328"/>
            <a:ext cx="28346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alibri"/>
              </a:rPr>
              <a:t>Read · Write · Edit · Glob · Grep · Bash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40680" y="3767328"/>
            <a:ext cx="3749039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alibri"/>
              </a:rPr>
              <a:t>Test plan · TC files · Playwright E2E · fixtures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65760" y="4187952"/>
            <a:ext cx="8412480" cy="402336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1480" y="4224528"/>
            <a:ext cx="14173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38BDF8"/>
                </a:solidFill>
                <a:latin typeface="Consolas"/>
              </a:rPr>
              <a:t>security-reviewer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828800" y="4224528"/>
            <a:ext cx="7772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F8FAFC"/>
                </a:solidFill>
                <a:latin typeface="Calibri"/>
              </a:rPr>
              <a:t>Sonnet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606040" y="4224528"/>
            <a:ext cx="28346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alibri"/>
              </a:rPr>
              <a:t>Read · Write · Grep · Glob · Bash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40680" y="4224528"/>
            <a:ext cx="3749039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alibri"/>
              </a:rPr>
              <a:t>OWASP scan · BLOCK/WARN/INFO triage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11480" y="4846320"/>
            <a:ext cx="594360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Calibri"/>
              </a:rPr>
              <a:t>Claude Harness Engine v1.1.5   ·   Autonomous SDLC for Agentic Software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72400" y="4846320"/>
            <a:ext cx="100584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Calibri"/>
              </a:rPr>
              <a:t>11 / 30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832104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Calibri"/>
              </a:rPr>
              <a:t>Hooks — 14 Enforcement Layers Wired in `settings.json`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85800"/>
            <a:ext cx="83210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38BDF8"/>
                </a:solidFill>
                <a:latin typeface="Calibri"/>
              </a:rPr>
              <a:t>Hooks run automatically at lifecycle events. They cannot be skipped by the model.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097280"/>
            <a:ext cx="269748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>
                <a:solidFill>
                  <a:srgbClr val="94A3B8"/>
                </a:solidFill>
                <a:latin typeface="Calibri"/>
              </a:rPr>
              <a:t>EVENT MATCHER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1097280"/>
            <a:ext cx="196596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>
                <a:solidFill>
                  <a:srgbClr val="94A3B8"/>
                </a:solidFill>
                <a:latin typeface="Calibri"/>
              </a:rPr>
              <a:t>HOOK SCRIPT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74920" y="1097280"/>
            <a:ext cx="36576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>
                <a:solidFill>
                  <a:srgbClr val="94A3B8"/>
                </a:solidFill>
                <a:latin typeface="Calibri"/>
              </a:rPr>
              <a:t>PURPOSE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335024"/>
            <a:ext cx="8412480" cy="224028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353312"/>
            <a:ext cx="2697480" cy="2423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onsolas"/>
              </a:rPr>
              <a:t>PreToolUse → Write|Edit|MultiEdit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1353312"/>
            <a:ext cx="1965960" cy="2423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>
                <a:solidFill>
                  <a:srgbClr val="38BDF8"/>
                </a:solidFill>
                <a:latin typeface="Consolas"/>
              </a:rPr>
              <a:t>enforce-length-pre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74920" y="1353312"/>
            <a:ext cx="3657600" cy="2423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F8FAFC"/>
                </a:solidFill>
                <a:latin typeface="Calibri"/>
              </a:rPr>
              <a:t>Block oversized files at intent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1595628"/>
            <a:ext cx="2697480" cy="2423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onsolas"/>
              </a:rPr>
              <a:t>PostToolUse → Edit|Write|MultiEdit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1595628"/>
            <a:ext cx="1965960" cy="2423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>
                <a:solidFill>
                  <a:srgbClr val="FB923C"/>
                </a:solidFill>
                <a:latin typeface="Consolas"/>
              </a:rPr>
              <a:t>scope-directory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74920" y="1595628"/>
            <a:ext cx="3657600" cy="2423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F8FAFC"/>
                </a:solidFill>
                <a:latin typeface="Calibri"/>
              </a:rPr>
              <a:t>Reject writes outside project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1819656"/>
            <a:ext cx="8412480" cy="224028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1837944"/>
            <a:ext cx="2697480" cy="2423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onsolas"/>
              </a:rPr>
              <a:t>PostToolUse → Edit|Write|MultiEdit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1837944"/>
            <a:ext cx="1965960" cy="2423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>
                <a:solidFill>
                  <a:srgbClr val="FB923C"/>
                </a:solidFill>
                <a:latin typeface="Consolas"/>
              </a:rPr>
              <a:t>protect-env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74920" y="1837944"/>
            <a:ext cx="3657600" cy="2423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F8FAFC"/>
                </a:solidFill>
                <a:latin typeface="Calibri"/>
              </a:rPr>
              <a:t>Refuse changes to .env files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2080260"/>
            <a:ext cx="2697480" cy="2423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onsolas"/>
              </a:rPr>
              <a:t>PostToolUse → Edit|Write|MultiEdit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2080260"/>
            <a:ext cx="1965960" cy="2423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>
                <a:solidFill>
                  <a:srgbClr val="FB923C"/>
                </a:solidFill>
                <a:latin typeface="Consolas"/>
              </a:rPr>
              <a:t>detect-secrets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74920" y="2080260"/>
            <a:ext cx="3657600" cy="2423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F8FAFC"/>
                </a:solidFill>
                <a:latin typeface="Calibri"/>
              </a:rPr>
              <a:t>Refuse hardcoded secrets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2304288"/>
            <a:ext cx="8412480" cy="224028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2322576"/>
            <a:ext cx="2697480" cy="2423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onsolas"/>
              </a:rPr>
              <a:t>PostToolUse → Edit|Write|MultiEdit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08960" y="2322576"/>
            <a:ext cx="1965960" cy="2423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>
                <a:solidFill>
                  <a:srgbClr val="FB923C"/>
                </a:solidFill>
                <a:latin typeface="Consolas"/>
              </a:rPr>
              <a:t>lint-on-save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74920" y="2322576"/>
            <a:ext cx="3657600" cy="2423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F8FAFC"/>
                </a:solidFill>
                <a:latin typeface="Calibri"/>
              </a:rPr>
              <a:t>ruff / eslint on every save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2564892"/>
            <a:ext cx="2697480" cy="2423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onsolas"/>
              </a:rPr>
              <a:t>PostToolUse → Edit|Write|MultiEdit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08960" y="2564892"/>
            <a:ext cx="1965960" cy="2423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>
                <a:solidFill>
                  <a:srgbClr val="FB923C"/>
                </a:solidFill>
                <a:latin typeface="Consolas"/>
              </a:rPr>
              <a:t>typecheck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74920" y="2564892"/>
            <a:ext cx="3657600" cy="2423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F8FAFC"/>
                </a:solidFill>
                <a:latin typeface="Calibri"/>
              </a:rPr>
              <a:t>mypy / tsc on every save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65760" y="2788920"/>
            <a:ext cx="8412480" cy="224028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2807208"/>
            <a:ext cx="2697480" cy="2423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onsolas"/>
              </a:rPr>
              <a:t>PostToolUse → Edit|Write|MultiEdit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108960" y="2807208"/>
            <a:ext cx="1965960" cy="2423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>
                <a:solidFill>
                  <a:srgbClr val="FB923C"/>
                </a:solidFill>
                <a:latin typeface="Consolas"/>
              </a:rPr>
              <a:t>check-architecture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74920" y="2807208"/>
            <a:ext cx="3657600" cy="2423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F8FAFC"/>
                </a:solidFill>
                <a:latin typeface="Calibri"/>
              </a:rPr>
              <a:t>One-way layer imports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" y="3049524"/>
            <a:ext cx="2697480" cy="2423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onsolas"/>
              </a:rPr>
              <a:t>PostToolUse → Edit|Write|MultiEdit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108960" y="3049524"/>
            <a:ext cx="1965960" cy="2423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>
                <a:solidFill>
                  <a:srgbClr val="FB923C"/>
                </a:solidFill>
                <a:latin typeface="Consolas"/>
              </a:rPr>
              <a:t>check-function-length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74920" y="3049524"/>
            <a:ext cx="3657600" cy="2423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F8FAFC"/>
                </a:solidFill>
                <a:latin typeface="Calibri"/>
              </a:rPr>
              <a:t>Functions ≤ 50 lines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65760" y="3273552"/>
            <a:ext cx="8412480" cy="224028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1480" y="3291840"/>
            <a:ext cx="2697480" cy="2423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onsolas"/>
              </a:rPr>
              <a:t>PostToolUse → Edit|Write|MultiEdit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108960" y="3291840"/>
            <a:ext cx="1965960" cy="2423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>
                <a:solidFill>
                  <a:srgbClr val="FB923C"/>
                </a:solidFill>
                <a:latin typeface="Consolas"/>
              </a:rPr>
              <a:t>check-file-length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74920" y="3291840"/>
            <a:ext cx="3657600" cy="2423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F8FAFC"/>
                </a:solidFill>
                <a:latin typeface="Calibri"/>
              </a:rPr>
              <a:t>Files ≤ 300 lines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1480" y="3534156"/>
            <a:ext cx="2697480" cy="2423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onsolas"/>
              </a:rPr>
              <a:t>PostToolUse → Edit|Write|MultiEdit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108960" y="3534156"/>
            <a:ext cx="1965960" cy="2423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>
                <a:solidFill>
                  <a:srgbClr val="FB923C"/>
                </a:solidFill>
                <a:latin typeface="Consolas"/>
              </a:rPr>
              <a:t>track-writes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74920" y="3534156"/>
            <a:ext cx="3657600" cy="2423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F8FAFC"/>
                </a:solidFill>
                <a:latin typeface="Calibri"/>
              </a:rPr>
              <a:t>Append to pending-reviews.jsonl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65760" y="3758184"/>
            <a:ext cx="8412480" cy="224028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11480" y="3776472"/>
            <a:ext cx="2697480" cy="2423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onsolas"/>
              </a:rPr>
              <a:t>PostToolUse → Bash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108960" y="3776472"/>
            <a:ext cx="1965960" cy="2423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>
                <a:solidFill>
                  <a:srgbClr val="4ADE80"/>
                </a:solidFill>
                <a:latin typeface="Consolas"/>
              </a:rPr>
              <a:t>pre-commit-gate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74920" y="3776472"/>
            <a:ext cx="3657600" cy="2423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F8FAFC"/>
                </a:solidFill>
                <a:latin typeface="Calibri"/>
              </a:rPr>
              <a:t>Block commit if gates fail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11480" y="4018788"/>
            <a:ext cx="2697480" cy="2423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onsolas"/>
              </a:rPr>
              <a:t>PostToolUse → Bash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108960" y="4018788"/>
            <a:ext cx="1965960" cy="2423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>
                <a:solidFill>
                  <a:srgbClr val="4ADE80"/>
                </a:solidFill>
                <a:latin typeface="Consolas"/>
              </a:rPr>
              <a:t>sprint-contract-gate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74920" y="4018788"/>
            <a:ext cx="3657600" cy="2423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F8FAFC"/>
                </a:solidFill>
                <a:latin typeface="Calibri"/>
              </a:rPr>
              <a:t>Block /build until contract OK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65760" y="4242816"/>
            <a:ext cx="8412480" cy="224028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11480" y="4261104"/>
            <a:ext cx="2697480" cy="2423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onsolas"/>
              </a:rPr>
              <a:t>Stop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108960" y="4261104"/>
            <a:ext cx="1965960" cy="2423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>
                <a:solidFill>
                  <a:srgbClr val="A78BFA"/>
                </a:solidFill>
                <a:latin typeface="Consolas"/>
              </a:rPr>
              <a:t>require-review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074920" y="4261104"/>
            <a:ext cx="3657600" cy="2423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F8FAFC"/>
                </a:solidFill>
                <a:latin typeface="Calibri"/>
              </a:rPr>
              <a:t>Force reviewer agent before turn ends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11480" y="4503420"/>
            <a:ext cx="2697480" cy="2423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onsolas"/>
              </a:rPr>
              <a:t>TaskCompleted / TeammateIdle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108960" y="4503420"/>
            <a:ext cx="1965960" cy="2423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>
                <a:solidFill>
                  <a:srgbClr val="FBBF24"/>
                </a:solidFill>
                <a:latin typeface="Consolas"/>
              </a:rPr>
              <a:t>task-completed · teammate-idle-check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074920" y="4503420"/>
            <a:ext cx="3657600" cy="2423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F8FAFC"/>
                </a:solidFill>
                <a:latin typeface="Calibri"/>
              </a:rPr>
              <a:t>Close + nudge stuck teammates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11480" y="4846320"/>
            <a:ext cx="594360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Calibri"/>
              </a:rPr>
              <a:t>Claude Harness Engine v1.1.5   ·   Autonomous SDLC for Agentic Software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772400" y="4846320"/>
            <a:ext cx="100584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Calibri"/>
              </a:rPr>
              <a:t>12 / 30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832104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Calibri"/>
              </a:rPr>
              <a:t>Templates — How Skills Use Templates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85800"/>
            <a:ext cx="83210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38BDF8"/>
                </a:solidFill>
                <a:latin typeface="Calibri"/>
              </a:rPr>
              <a:t>Static scaffolds in `.claude/templates/` are the authoritative shapes the harness writes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143000"/>
            <a:ext cx="4069080" cy="7315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97864"/>
            <a:ext cx="37947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38BDF8"/>
                </a:solidFill>
                <a:latin typeface="Consolas"/>
              </a:rPr>
              <a:t>sprint-contract.json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35608"/>
            <a:ext cx="3794760" cy="42062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alibri"/>
              </a:rPr>
              <a:t>Read by /auto, generator (proposes), evaluator (finalizes).
Defines api_checks, playwright_checks, design_checks, architecture_checks.
Becomes immutable after evaluator approves 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17720" y="1143000"/>
            <a:ext cx="4069080" cy="7315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1197864"/>
            <a:ext cx="37947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B923C"/>
                </a:solidFill>
                <a:latin typeface="Consolas"/>
              </a:rPr>
              <a:t>story.template.md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435608"/>
            <a:ext cx="3794760" cy="42062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alibri"/>
              </a:rPr>
              <a:t>Read by /spec when planner expands BRD → stories.
Provides ID · layer · group · readiness · acceptance criteria · dependencies.
/improve and /fix-issue reuse the same shape.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1929384"/>
            <a:ext cx="4069080" cy="7315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984248"/>
            <a:ext cx="37947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4ADE80"/>
                </a:solidFill>
                <a:latin typeface="Consolas"/>
              </a:rPr>
              <a:t>docker-compose.template.yml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221992"/>
            <a:ext cx="3794760" cy="42062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alibri"/>
              </a:rPr>
              <a:t>Read by /deploy. Token-replaced for backend, frontend, db, evaluator network.
Health check endpoints + service ordering match verification.health_check.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17720" y="1929384"/>
            <a:ext cx="4069080" cy="7315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0" y="1984248"/>
            <a:ext cx="37947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A78BFA"/>
                </a:solidFill>
                <a:latin typeface="Consolas"/>
              </a:rPr>
              <a:t>init-sh.template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2221992"/>
            <a:ext cx="3794760" cy="42062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alibri"/>
              </a:rPr>
              <a:t>Read by /scaffold and /deploy. Placeholders {{BACKEND_INSTALL}} etc. are
filled from project-manifest presets (uv vs npm, Docker vs local).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2715768"/>
            <a:ext cx="4069080" cy="7315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2770632"/>
            <a:ext cx="37947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BBF24"/>
                </a:solidFill>
                <a:latin typeface="Consolas"/>
              </a:rPr>
              <a:t>playwright.config.template.ts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008376"/>
            <a:ext cx="3794760" cy="42062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alibri"/>
              </a:rPr>
              <a:t>Read by /test and test-engineer agent. baseURL · testDir · timeouts.
Becomes e2e/ root config the evaluator's Playwright MCP runs against.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17720" y="2715768"/>
            <a:ext cx="4069080" cy="7315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54880" y="2770632"/>
            <a:ext cx="37947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87171"/>
                </a:solidFill>
                <a:latin typeface="Consolas"/>
              </a:rPr>
              <a:t>features-template.json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3008376"/>
            <a:ext cx="3794760" cy="42062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alibri"/>
              </a:rPr>
              <a:t>Schema for root features.json — every acceptance criterion becomes one entry
(passes, last_evaluated, failure_reason, failure_layer).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514600" y="3502152"/>
            <a:ext cx="4069080" cy="7315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651760" y="3557016"/>
            <a:ext cx="37947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94A3B8"/>
                </a:solidFill>
                <a:latin typeface="Consolas"/>
              </a:rPr>
              <a:t>context.template.md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51760" y="3794760"/>
            <a:ext cx="3794760" cy="42062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alibri"/>
              </a:rPr>
              <a:t>Read by /brownfield when a domain glossary is warranted. Keeps domain
terms close to code without bloating CLAUDE.md.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4846320"/>
            <a:ext cx="594360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Calibri"/>
              </a:rPr>
              <a:t>Claude Harness Engine v1.1.5   ·   Autonomous SDLC for Agentic Software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4846320"/>
            <a:ext cx="100584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Calibri"/>
              </a:rPr>
              <a:t>13 / 30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832104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Calibri"/>
              </a:rPr>
              <a:t>End-to-End SDLC Pipeline — 9 Phases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85800"/>
            <a:ext cx="83210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38BDF8"/>
                </a:solidFill>
                <a:latin typeface="Calibri"/>
              </a:rPr>
              <a:t>Phase 0 (brownfield) builds a deterministic AST + dep graph via /code-map and ranks seams via /seam-finder before any planning. /build orchestrates phases 1-8; /auto handles phase 5-7 autonomously.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280160"/>
            <a:ext cx="914400" cy="201168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04088" y="1371600"/>
            <a:ext cx="329184" cy="329184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371600"/>
            <a:ext cx="329184" cy="32918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Calibri"/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783080"/>
            <a:ext cx="9144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38BDF8"/>
                </a:solidFill>
                <a:latin typeface="Consolas"/>
              </a:rPr>
              <a:t>/brownfield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103120"/>
            <a:ext cx="82296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F8FAFC"/>
                </a:solidFill>
                <a:latin typeface="Calibri"/>
              </a:rPr>
              <a:t>Map
Existing Code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880360"/>
            <a:ext cx="91440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94A3B8"/>
                </a:solidFill>
                <a:latin typeface="Calibri"/>
              </a:rPr>
              <a:t>if greenfield, skip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44168" y="1280160"/>
            <a:ext cx="914400" cy="201168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636776" y="1371600"/>
            <a:ext cx="329184" cy="329184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36776" y="1371600"/>
            <a:ext cx="329184" cy="32918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1783080"/>
            <a:ext cx="9144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FB923C"/>
                </a:solidFill>
                <a:latin typeface="Consolas"/>
              </a:rPr>
              <a:t>/brd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2103120"/>
            <a:ext cx="82296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F8FAFC"/>
                </a:solidFill>
                <a:latin typeface="Calibri"/>
              </a:rPr>
              <a:t>Socratic
Interview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44168" y="2880360"/>
            <a:ext cx="91440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94A3B8"/>
                </a:solidFill>
                <a:latin typeface="Calibri"/>
              </a:rPr>
              <a:t>human gate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276856" y="1280160"/>
            <a:ext cx="914400" cy="201168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569464" y="1371600"/>
            <a:ext cx="329184" cy="329184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69464" y="1371600"/>
            <a:ext cx="329184" cy="32918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Calibr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76856" y="1783080"/>
            <a:ext cx="9144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FB923C"/>
                </a:solidFill>
                <a:latin typeface="Consolas"/>
              </a:rPr>
              <a:t>/spec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2576" y="2103120"/>
            <a:ext cx="82296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F8FAFC"/>
                </a:solidFill>
                <a:latin typeface="Calibri"/>
              </a:rPr>
              <a:t>Stories +
Dep Graph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76856" y="2880360"/>
            <a:ext cx="91440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94A3B8"/>
                </a:solidFill>
                <a:latin typeface="Calibri"/>
              </a:rPr>
              <a:t>human gate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09544" y="1280160"/>
            <a:ext cx="914400" cy="201168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502152" y="1371600"/>
            <a:ext cx="329184" cy="329184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02152" y="1371600"/>
            <a:ext cx="329184" cy="32918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Calibri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9544" y="1783080"/>
            <a:ext cx="9144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FB923C"/>
                </a:solidFill>
                <a:latin typeface="Consolas"/>
              </a:rPr>
              <a:t>/design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55264" y="2103120"/>
            <a:ext cx="82296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F8FAFC"/>
                </a:solidFill>
                <a:latin typeface="Calibri"/>
              </a:rPr>
              <a:t>Architecture
&amp; Mockups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9544" y="2880360"/>
            <a:ext cx="91440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94A3B8"/>
                </a:solidFill>
                <a:latin typeface="Calibri"/>
              </a:rPr>
              <a:t>human gate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142232" y="1280160"/>
            <a:ext cx="914400" cy="201168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434840" y="1371600"/>
            <a:ext cx="329184" cy="329184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34840" y="1371600"/>
            <a:ext cx="329184" cy="32918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Calibri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42232" y="1783080"/>
            <a:ext cx="9144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4ADE80"/>
                </a:solidFill>
                <a:latin typeface="Consolas"/>
              </a:rPr>
              <a:t>/implement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87952" y="2103120"/>
            <a:ext cx="82296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F8FAFC"/>
                </a:solidFill>
                <a:latin typeface="Calibri"/>
              </a:rPr>
              <a:t>Agent Team
Execution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42232" y="2880360"/>
            <a:ext cx="91440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94A3B8"/>
                </a:solidFill>
                <a:latin typeface="Calibri"/>
              </a:rPr>
              <a:t>phased DAG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74920" y="1280160"/>
            <a:ext cx="914400" cy="201168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367528" y="1371600"/>
            <a:ext cx="329184" cy="329184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367528" y="1371600"/>
            <a:ext cx="329184" cy="32918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Calibri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74920" y="1783080"/>
            <a:ext cx="9144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4ADE80"/>
                </a:solidFill>
                <a:latin typeface="Consolas"/>
              </a:rPr>
              <a:t>/evaluate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20640" y="2103120"/>
            <a:ext cx="82296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F8FAFC"/>
                </a:solidFill>
                <a:latin typeface="Calibri"/>
              </a:rPr>
              <a:t>3-Layer
Verification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74920" y="2880360"/>
            <a:ext cx="91440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94A3B8"/>
                </a:solidFill>
                <a:latin typeface="Calibri"/>
              </a:rPr>
              <a:t>API+UI+Vision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007608" y="1280160"/>
            <a:ext cx="914400" cy="201168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300216" y="1371600"/>
            <a:ext cx="329184" cy="329184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00216" y="1371600"/>
            <a:ext cx="329184" cy="32918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Calibri"/>
              </a:rPr>
              <a:t>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07608" y="1783080"/>
            <a:ext cx="9144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4ADE80"/>
                </a:solidFill>
                <a:latin typeface="Consolas"/>
              </a:rPr>
              <a:t>/review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53328" y="2103120"/>
            <a:ext cx="82296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F8FAFC"/>
                </a:solidFill>
                <a:latin typeface="Calibri"/>
              </a:rPr>
              <a:t>Security
+ Sprint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07608" y="2880360"/>
            <a:ext cx="91440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94A3B8"/>
                </a:solidFill>
                <a:latin typeface="Calibri"/>
              </a:rPr>
              <a:t>OWASP scan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940296" y="1280160"/>
            <a:ext cx="914400" cy="201168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7232904" y="1371600"/>
            <a:ext cx="329184" cy="329184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232904" y="1371600"/>
            <a:ext cx="329184" cy="32918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Calibri"/>
              </a:rPr>
              <a:t>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940296" y="1783080"/>
            <a:ext cx="9144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A78BFA"/>
                </a:solidFill>
                <a:latin typeface="Consolas"/>
              </a:rPr>
              <a:t>/test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86016" y="2103120"/>
            <a:ext cx="82296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F8FAFC"/>
                </a:solidFill>
                <a:latin typeface="Calibri"/>
              </a:rPr>
              <a:t>Plan +
E2E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940296" y="2880360"/>
            <a:ext cx="91440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94A3B8"/>
                </a:solidFill>
                <a:latin typeface="Calibri"/>
              </a:rPr>
              <a:t>Playwright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872984" y="1280160"/>
            <a:ext cx="914400" cy="201168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8165592" y="1371600"/>
            <a:ext cx="329184" cy="329184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165592" y="1371600"/>
            <a:ext cx="329184" cy="32918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Calibri"/>
              </a:rPr>
              <a:t>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872984" y="1783080"/>
            <a:ext cx="9144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FBBF24"/>
                </a:solidFill>
                <a:latin typeface="Consolas"/>
              </a:rPr>
              <a:t>/deploy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18704" y="2103120"/>
            <a:ext cx="82296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F8FAFC"/>
                </a:solidFill>
                <a:latin typeface="Calibri"/>
              </a:rPr>
              <a:t>Docker +
init.sh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872984" y="2880360"/>
            <a:ext cx="91440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94A3B8"/>
                </a:solidFill>
                <a:latin typeface="Calibri"/>
              </a:rPr>
              <a:t>compose stack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11480" y="3520440"/>
            <a:ext cx="83210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/auto runs phases 5-7 in a self-healing loop until features pass or stopping criteria are met (max 50 iterations).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11480" y="3840480"/>
            <a:ext cx="83210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/vibe is an off-pipeline lane for tiny safe changes. /improve, /refactor, /fix-issue re-enter the pipeline at /spec or /implement.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11480" y="4846320"/>
            <a:ext cx="594360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Calibri"/>
              </a:rPr>
              <a:t>Claude Harness Engine v1.1.5   ·   Autonomous SDLC for Agentic Software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772400" y="4846320"/>
            <a:ext cx="100584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Calibri"/>
              </a:rPr>
              <a:t>14 / 30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832104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Calibri"/>
              </a:rPr>
              <a:t>Brownfield + Vibe — Lane Selection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85800"/>
            <a:ext cx="83210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38BDF8"/>
                </a:solidFill>
                <a:latin typeface="Calibri"/>
              </a:rPr>
              <a:t>Two new lanes added in v1.1.5 to handle reality: existing code and tiny low-risk edits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143000"/>
            <a:ext cx="4114800" cy="34747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07008"/>
            <a:ext cx="3840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38BDF8"/>
                </a:solidFill>
                <a:latin typeface="Consolas"/>
              </a:rPr>
              <a:t>/brownfield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54480"/>
            <a:ext cx="384048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8FAFC"/>
                </a:solidFill>
                <a:latin typeface="Calibri"/>
              </a:rPr>
              <a:t>When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28800"/>
            <a:ext cx="384048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Before substantial planning, refactor, or feature work in any existing repository.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240280"/>
            <a:ext cx="384048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8FAFC"/>
                </a:solidFill>
                <a:latin typeface="Calibri"/>
              </a:rPr>
              <a:t>Outputs (specs/brownfield/)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514600"/>
            <a:ext cx="384048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00" b="0">
                <a:solidFill>
                  <a:srgbClr val="CBD5E1"/>
                </a:solidFill>
                <a:latin typeface="Calibri"/>
              </a:rPr>
              <a:t>▸ codebase-map.md   languages, entry points, services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CBD5E1"/>
                </a:solidFill>
                <a:latin typeface="Calibri"/>
              </a:rPr>
              <a:t>▸ code-graph.json  AST + import + call graph (6 langs)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CBD5E1"/>
                </a:solidFill>
                <a:latin typeface="Calibri"/>
              </a:rPr>
              <a:t>▸ dependency-graph.md  Mermaid render, top-N hubs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CBD5E1"/>
                </a:solidFill>
                <a:latin typeface="Calibri"/>
              </a:rPr>
              <a:t>▸ coupling-report.md  fan-in/out, cycles, unstable hubs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CBD5E1"/>
                </a:solidFill>
                <a:latin typeface="Calibri"/>
              </a:rPr>
              <a:t>▸ seams-*.md  ranked cut-points (Fowler scoring)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CBD5E1"/>
                </a:solidFill>
                <a:latin typeface="Calibri"/>
              </a:rPr>
              <a:t>▸ architecture-map.md  modules, layers, data flow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CBD5E1"/>
                </a:solidFill>
                <a:latin typeface="Calibri"/>
              </a:rPr>
              <a:t>▸ test-map.md  commands, coverage signals, gaps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CBD5E1"/>
                </a:solidFill>
                <a:latin typeface="Calibri"/>
              </a:rPr>
              <a:t>▸ risk-map.md  auth, billing, migrations, fragile zones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CBD5E1"/>
                </a:solidFill>
                <a:latin typeface="Calibri"/>
              </a:rPr>
              <a:t>▸ change-strategy.md  recommended lane for future work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CBD5E1"/>
                </a:solidFill>
                <a:latin typeface="Calibri"/>
              </a:rPr>
              <a:t>▸ CONTEXT.md  domain glossary (only if meaningful)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3440" y="1143000"/>
            <a:ext cx="4069080" cy="34747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1207008"/>
            <a:ext cx="3794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B923C"/>
                </a:solidFill>
                <a:latin typeface="Consolas"/>
              </a:rPr>
              <a:t>/vibe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1554480"/>
            <a:ext cx="379476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8FAFC"/>
                </a:solidFill>
                <a:latin typeface="Calibri"/>
              </a:rPr>
              <a:t>Eligibility (all must hold)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1828800"/>
            <a:ext cx="379476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00" b="0">
                <a:solidFill>
                  <a:srgbClr val="CBD5E1"/>
                </a:solidFill>
                <a:latin typeface="Calibri"/>
              </a:rPr>
              <a:t>▸ Change describable in one sentence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CBD5E1"/>
                </a:solidFill>
                <a:latin typeface="Calibri"/>
              </a:rPr>
              <a:t>▸ ≤ 3 files, &lt; 150 lines diff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CBD5E1"/>
                </a:solidFill>
                <a:latin typeface="Calibri"/>
              </a:rPr>
              <a:t>▸ No new product workflow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CBD5E1"/>
                </a:solidFill>
                <a:latin typeface="Calibri"/>
              </a:rPr>
              <a:t>▸ Doesn't alter auth, privacy, billing, migrations, public API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CBD5E1"/>
                </a:solidFill>
                <a:latin typeface="Calibri"/>
              </a:rPr>
              <a:t>▸ Verifiable with a targeted command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CBD5E1"/>
                </a:solidFill>
                <a:latin typeface="Calibri"/>
              </a:rPr>
              <a:t>▸ Rollback is simple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3246120"/>
            <a:ext cx="379476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8FAFC"/>
                </a:solidFill>
                <a:latin typeface="Calibri"/>
              </a:rPr>
              <a:t>Workflow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0600" y="3520440"/>
            <a:ext cx="3794760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Classify (CV0/CV1/CV2) → micro-contract → inspect → TDD if behavior → narrow edit → targeted verify → reviewer hook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4846320"/>
            <a:ext cx="594360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Calibri"/>
              </a:rPr>
              <a:t>Claude Harness Engine v1.1.5   ·   Autonomous SDLC for Agentic Software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4846320"/>
            <a:ext cx="100584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Calibri"/>
              </a:rPr>
              <a:t>15 / 30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832104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Calibri"/>
              </a:rPr>
              <a:t>Karpathy's Ratchet — Monotonic Progress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85800"/>
            <a:ext cx="83210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38BDF8"/>
                </a:solidFill>
                <a:latin typeface="Calibri"/>
              </a:rPr>
              <a:t>Once a metric passes, it can never regress. Quality only moves forward.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143000"/>
            <a:ext cx="2697480" cy="14173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234440"/>
            <a:ext cx="502920" cy="292608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/>
          <a:lstStyle/>
          <a:p>
            <a:pPr algn="ctr"/>
            <a:r>
              <a:rPr sz="1100" b="1">
                <a:solidFill>
                  <a:srgbClr val="0F172A"/>
                </a:solidFill>
                <a:latin typeface="Calibri"/>
              </a:rPr>
              <a:t>G1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" y="1234440"/>
            <a:ext cx="1828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8FAFC"/>
                </a:solidFill>
                <a:latin typeface="Calibri"/>
              </a:rPr>
              <a:t>Unit Tests Pass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1645920"/>
            <a:ext cx="2368296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pytest / vitest exit 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6072" y="2103120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/>
          <a:lstStyle/>
          <a:p>
            <a:pPr algn="ctr"/>
            <a:r>
              <a:rPr sz="900" b="1">
                <a:solidFill>
                  <a:srgbClr val="38BDF8"/>
                </a:solidFill>
                <a:latin typeface="Calibri"/>
              </a:rPr>
              <a:t>All modes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0" y="1143000"/>
            <a:ext cx="2697480" cy="14173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337560" y="1234440"/>
            <a:ext cx="502920" cy="292608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/>
          <a:lstStyle/>
          <a:p>
            <a:pPr algn="ctr"/>
            <a:r>
              <a:rPr sz="1100" b="1">
                <a:solidFill>
                  <a:srgbClr val="0F172A"/>
                </a:solidFill>
                <a:latin typeface="Calibri"/>
              </a:rPr>
              <a:t>G2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13632" y="1234440"/>
            <a:ext cx="1828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8FAFC"/>
                </a:solidFill>
                <a:latin typeface="Calibri"/>
              </a:rPr>
              <a:t>Lint + Types Clean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64992" y="1645920"/>
            <a:ext cx="2368296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ruff / mypy / tsc exit 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64992" y="2103120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/>
          <a:lstStyle/>
          <a:p>
            <a:pPr algn="ctr"/>
            <a:r>
              <a:rPr sz="900" b="1">
                <a:solidFill>
                  <a:srgbClr val="38BDF8"/>
                </a:solidFill>
                <a:latin typeface="Calibri"/>
              </a:rPr>
              <a:t>All modes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89320" y="1143000"/>
            <a:ext cx="2697480" cy="14173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126480" y="1234440"/>
            <a:ext cx="502920" cy="292608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/>
          <a:lstStyle/>
          <a:p>
            <a:pPr algn="ctr"/>
            <a:r>
              <a:rPr sz="1100" b="1">
                <a:solidFill>
                  <a:srgbClr val="0F172A"/>
                </a:solidFill>
                <a:latin typeface="Calibri"/>
              </a:rPr>
              <a:t>G3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02552" y="1234440"/>
            <a:ext cx="1828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8FAFC"/>
                </a:solidFill>
                <a:latin typeface="Calibri"/>
              </a:rPr>
              <a:t>Coverage ≥ Baseline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53912" y="1645920"/>
            <a:ext cx="2368296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Floor 80%, never drops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3912" y="2103120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/>
          <a:lstStyle/>
          <a:p>
            <a:pPr algn="ctr"/>
            <a:r>
              <a:rPr sz="900" b="1">
                <a:solidFill>
                  <a:srgbClr val="38BDF8"/>
                </a:solidFill>
                <a:latin typeface="Calibri"/>
              </a:rPr>
              <a:t>All modes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" y="2651760"/>
            <a:ext cx="2697480" cy="14173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48640" y="2743200"/>
            <a:ext cx="502920" cy="292608"/>
          </a:xfrm>
          <a:prstGeom prst="roundRect">
            <a:avLst>
              <a:gd name="adj" fmla="val 50000"/>
            </a:avLst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/>
          <a:lstStyle/>
          <a:p>
            <a:pPr algn="ctr"/>
            <a:r>
              <a:rPr sz="1100" b="1">
                <a:solidFill>
                  <a:srgbClr val="0F172A"/>
                </a:solidFill>
                <a:latin typeface="Calibri"/>
              </a:rPr>
              <a:t>G4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" y="2743200"/>
            <a:ext cx="1828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8FAFC"/>
                </a:solidFill>
                <a:latin typeface="Calibri"/>
              </a:rPr>
              <a:t>Architecture Alignment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72" y="3154680"/>
            <a:ext cx="2368296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Layer imports + schema check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6072" y="3611880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/>
          <a:lstStyle/>
          <a:p>
            <a:pPr algn="ctr"/>
            <a:r>
              <a:rPr sz="900" b="1">
                <a:solidFill>
                  <a:srgbClr val="38BDF8"/>
                </a:solidFill>
                <a:latin typeface="Calibri"/>
              </a:rPr>
              <a:t>Full / Lean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00400" y="2651760"/>
            <a:ext cx="2697480" cy="14173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337560" y="2743200"/>
            <a:ext cx="502920" cy="292608"/>
          </a:xfrm>
          <a:prstGeom prst="roundRect">
            <a:avLst>
              <a:gd name="adj" fmla="val 50000"/>
            </a:avLst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/>
          <a:lstStyle/>
          <a:p>
            <a:pPr algn="ctr"/>
            <a:r>
              <a:rPr sz="1100" b="1">
                <a:solidFill>
                  <a:srgbClr val="0F172A"/>
                </a:solidFill>
                <a:latin typeface="Calibri"/>
              </a:rPr>
              <a:t>G5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13632" y="2743200"/>
            <a:ext cx="1828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8FAFC"/>
                </a:solidFill>
                <a:latin typeface="Calibri"/>
              </a:rPr>
              <a:t>Evaluator Verdict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64992" y="3154680"/>
            <a:ext cx="2368296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API + Playwright vs running app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64992" y="3611880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/>
          <a:lstStyle/>
          <a:p>
            <a:pPr algn="ctr"/>
            <a:r>
              <a:rPr sz="900" b="1">
                <a:solidFill>
                  <a:srgbClr val="38BDF8"/>
                </a:solidFill>
                <a:latin typeface="Calibri"/>
              </a:rPr>
              <a:t>Full / Lean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89320" y="2651760"/>
            <a:ext cx="2697480" cy="14173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126480" y="2743200"/>
            <a:ext cx="502920" cy="292608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/>
          <a:lstStyle/>
          <a:p>
            <a:pPr algn="ctr"/>
            <a:r>
              <a:rPr sz="1100" b="1">
                <a:solidFill>
                  <a:srgbClr val="0F172A"/>
                </a:solidFill>
                <a:latin typeface="Calibri"/>
              </a:rPr>
              <a:t>G6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02552" y="2743200"/>
            <a:ext cx="1828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8FAFC"/>
                </a:solidFill>
                <a:latin typeface="Calibri"/>
              </a:rPr>
              <a:t>Design Critic Score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53912" y="3154680"/>
            <a:ext cx="2368296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Vision scoring (4 criteria)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53912" y="3611880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/>
          <a:lstStyle/>
          <a:p>
            <a:pPr algn="ctr"/>
            <a:r>
              <a:rPr sz="900" b="1">
                <a:solidFill>
                  <a:srgbClr val="38BDF8"/>
                </a:solidFill>
                <a:latin typeface="Calibri"/>
              </a:rPr>
              <a:t>Full only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" y="4160520"/>
            <a:ext cx="8321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Turbo mode (Opus 4.6+) collapses gates 4-6 to a single end-of-build run; gates 1-3 still fire per commit.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4846320"/>
            <a:ext cx="594360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Calibri"/>
              </a:rPr>
              <a:t>Claude Harness Engine v1.1.5   ·   Autonomous SDLC for Agentic Software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0" y="4846320"/>
            <a:ext cx="100584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Calibri"/>
              </a:rPr>
              <a:t>16 / 30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832104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Calibri"/>
              </a:rPr>
              <a:t>Self-Healing on Gate Failure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85800"/>
            <a:ext cx="83210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38BDF8"/>
                </a:solidFill>
                <a:latin typeface="Calibri"/>
              </a:rPr>
              <a:t>Max 3 attempts per gate. Each attempt uses a different fix strategy.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143000"/>
            <a:ext cx="1600200" cy="16916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1560" y="1234440"/>
            <a:ext cx="329184" cy="329184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234440"/>
            <a:ext cx="329184" cy="32918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645920"/>
            <a:ext cx="1600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38BDF8"/>
                </a:solidFill>
                <a:latin typeface="Calibri"/>
              </a:rPr>
              <a:t>Diagnose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965960"/>
            <a:ext cx="141732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CBD5E1"/>
                </a:solidFill>
                <a:latin typeface="Calibri"/>
              </a:rPr>
              <a:t>Read structured
failure JSON +
superpowers:
systematic-debugging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75688" y="1143000"/>
            <a:ext cx="1600200" cy="16916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715768" y="1234440"/>
            <a:ext cx="329184" cy="329184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15768" y="1234440"/>
            <a:ext cx="329184" cy="32918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75688" y="1645920"/>
            <a:ext cx="1600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FB923C"/>
                </a:solidFill>
                <a:latin typeface="Calibri"/>
              </a:rPr>
              <a:t>Classify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67128" y="1965960"/>
            <a:ext cx="141732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CBD5E1"/>
                </a:solidFill>
                <a:latin typeface="Calibri"/>
              </a:rPr>
              <a:t>10 categories:
lint · type · import
key · timeout · ...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39896" y="1143000"/>
            <a:ext cx="1600200" cy="16916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379976" y="1234440"/>
            <a:ext cx="329184" cy="329184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79976" y="1234440"/>
            <a:ext cx="329184" cy="32918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39896" y="1645920"/>
            <a:ext cx="1600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4ADE80"/>
                </a:solidFill>
                <a:latin typeface="Calibri"/>
              </a:rPr>
              <a:t>Fix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31336" y="1965960"/>
            <a:ext cx="141732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CBD5E1"/>
                </a:solidFill>
                <a:latin typeface="Calibri"/>
              </a:rPr>
              <a:t>Targeted strategy
(must differ from
prior attempts)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04104" y="1143000"/>
            <a:ext cx="1600200" cy="16916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044184" y="1234440"/>
            <a:ext cx="329184" cy="329184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44184" y="1234440"/>
            <a:ext cx="329184" cy="32918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04104" y="1645920"/>
            <a:ext cx="1600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A78BFA"/>
                </a:solidFill>
                <a:latin typeface="Calibri"/>
              </a:rPr>
              <a:t>Re-Run Gate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95544" y="1965960"/>
            <a:ext cx="141732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CBD5E1"/>
                </a:solidFill>
                <a:latin typeface="Calibri"/>
              </a:rPr>
              <a:t>Only the failed
gate re-executes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068312" y="1143000"/>
            <a:ext cx="1600200" cy="16916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708392" y="1234440"/>
            <a:ext cx="329184" cy="329184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08392" y="1234440"/>
            <a:ext cx="329184" cy="32918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Calibr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68312" y="1645920"/>
            <a:ext cx="1600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FBBF24"/>
                </a:solidFill>
                <a:latin typeface="Calibri"/>
              </a:rPr>
              <a:t>Pass / Escalate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59752" y="1965960"/>
            <a:ext cx="141732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CBD5E1"/>
                </a:solidFill>
                <a:latin typeface="Calibri"/>
              </a:rPr>
              <a:t>3rd fail: revert,
log, extract rule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11480" y="3017520"/>
            <a:ext cx="8321040" cy="1600200"/>
          </a:xfrm>
          <a:prstGeom prst="roundRect">
            <a:avLst>
              <a:gd name="adj" fmla="val 6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3108960"/>
            <a:ext cx="813816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B923C"/>
                </a:solidFill>
                <a:latin typeface="Calibri"/>
              </a:rPr>
              <a:t>10 Failure Categories — each maps to a distinct auto-fix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3456432"/>
            <a:ext cx="1517904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/>
          <a:lstStyle/>
          <a:p>
            <a:pPr algn="ctr"/>
            <a:r>
              <a:rPr sz="1000" b="1">
                <a:solidFill>
                  <a:srgbClr val="38BDF8"/>
                </a:solidFill>
                <a:latin typeface="Calibri"/>
              </a:rPr>
              <a:t>lint_format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176272" y="3456432"/>
            <a:ext cx="1517904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/>
          <a:lstStyle/>
          <a:p>
            <a:pPr algn="ctr"/>
            <a:r>
              <a:rPr sz="1000" b="1">
                <a:solidFill>
                  <a:srgbClr val="38BDF8"/>
                </a:solidFill>
                <a:latin typeface="Calibri"/>
              </a:rPr>
              <a:t>type_error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803904" y="3456432"/>
            <a:ext cx="1517904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/>
          <a:lstStyle/>
          <a:p>
            <a:pPr algn="ctr"/>
            <a:r>
              <a:rPr sz="1000" b="1">
                <a:solidFill>
                  <a:srgbClr val="38BDF8"/>
                </a:solidFill>
                <a:latin typeface="Calibri"/>
              </a:rPr>
              <a:t>import_error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31536" y="3456432"/>
            <a:ext cx="1517904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/>
          <a:lstStyle/>
          <a:p>
            <a:pPr algn="ctr"/>
            <a:r>
              <a:rPr sz="1000" b="1">
                <a:solidFill>
                  <a:srgbClr val="38BDF8"/>
                </a:solidFill>
                <a:latin typeface="Calibri"/>
              </a:rPr>
              <a:t>key_error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059168" y="3456432"/>
            <a:ext cx="1517904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/>
          <a:lstStyle/>
          <a:p>
            <a:pPr algn="ctr"/>
            <a:r>
              <a:rPr sz="1000" b="1">
                <a:solidFill>
                  <a:srgbClr val="38BDF8"/>
                </a:solidFill>
                <a:latin typeface="Calibri"/>
              </a:rPr>
              <a:t>timeout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3913632"/>
            <a:ext cx="1517904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/>
          <a:lstStyle/>
          <a:p>
            <a:pPr algn="ctr"/>
            <a:r>
              <a:rPr sz="1000" b="1">
                <a:solidFill>
                  <a:srgbClr val="38BDF8"/>
                </a:solidFill>
                <a:latin typeface="Calibri"/>
              </a:rPr>
              <a:t>connection_refused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176272" y="3913632"/>
            <a:ext cx="1517904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/>
          <a:lstStyle/>
          <a:p>
            <a:pPr algn="ctr"/>
            <a:r>
              <a:rPr sz="1000" b="1">
                <a:solidFill>
                  <a:srgbClr val="38BDF8"/>
                </a:solidFill>
                <a:latin typeface="Calibri"/>
              </a:rPr>
              <a:t>validation_error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803904" y="3913632"/>
            <a:ext cx="1517904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/>
          <a:lstStyle/>
          <a:p>
            <a:pPr algn="ctr"/>
            <a:r>
              <a:rPr sz="1000" b="1">
                <a:solidFill>
                  <a:srgbClr val="38BDF8"/>
                </a:solidFill>
                <a:latin typeface="Calibri"/>
              </a:rPr>
              <a:t>assertion_error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431536" y="3913632"/>
            <a:ext cx="1517904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/>
          <a:lstStyle/>
          <a:p>
            <a:pPr algn="ctr"/>
            <a:r>
              <a:rPr sz="1000" b="1">
                <a:solidFill>
                  <a:srgbClr val="38BDF8"/>
                </a:solidFill>
                <a:latin typeface="Calibri"/>
              </a:rPr>
              <a:t>api_transient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059168" y="3913632"/>
            <a:ext cx="1517904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/>
          <a:lstStyle/>
          <a:p>
            <a:pPr algn="ctr"/>
            <a:r>
              <a:rPr sz="1000" b="1">
                <a:solidFill>
                  <a:srgbClr val="38BDF8"/>
                </a:solidFill>
                <a:latin typeface="Calibri"/>
              </a:rPr>
              <a:t>api_permanent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1480" y="4846320"/>
            <a:ext cx="594360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Calibri"/>
              </a:rPr>
              <a:t>Claude Harness Engine v1.1.5   ·   Autonomous SDLC for Agentic Software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0" y="4846320"/>
            <a:ext cx="100584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Calibri"/>
              </a:rPr>
              <a:t>17 / 30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832104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Calibri"/>
              </a:rPr>
              <a:t>Continuous Learning — Institutional Memory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85800"/>
            <a:ext cx="83210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38BDF8"/>
                </a:solidFill>
                <a:latin typeface="Calibri"/>
              </a:rPr>
              <a:t>Failures become learned rules. Knowledge compounds across sessions.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143000"/>
            <a:ext cx="4572000" cy="34747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07008"/>
            <a:ext cx="42976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38BDF8"/>
                </a:solidFill>
                <a:latin typeface="Calibri"/>
              </a:rPr>
              <a:t>Failure-Driven Learning Loop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429768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100" b="0">
                <a:solidFill>
                  <a:srgbClr val="CBD5E1"/>
                </a:solidFill>
                <a:latin typeface="Calibri"/>
              </a:rPr>
              <a:t>1. Agent encounters failure during build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CBD5E1"/>
                </a:solidFill>
                <a:latin typeface="Calibri"/>
              </a:rPr>
              <a:t>2. Failure logged to .claude/state/failures.md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CBD5E1"/>
                </a:solidFill>
                <a:latin typeface="Calibri"/>
              </a:rPr>
              <a:t>3. Same error type appears 2+ times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CBD5E1"/>
                </a:solidFill>
                <a:latin typeface="Calibri"/>
              </a:rPr>
              <a:t>4. Learned rule extracted automatically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CBD5E1"/>
                </a:solidFill>
                <a:latin typeface="Calibri"/>
              </a:rPr>
              <a:t>5. Rule appended to learned-rules.md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CBD5E1"/>
                </a:solidFill>
                <a:latin typeface="Calibri"/>
              </a:rPr>
              <a:t>6. Rule injected verbatim into ALL future agent prompts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CBD5E1"/>
                </a:solidFill>
                <a:latin typeface="Calibri"/>
              </a:rPr>
              <a:t>7. Prevents regression across sessions, agents, modes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74920" y="1143000"/>
            <a:ext cx="3657600" cy="3474720"/>
          </a:xfrm>
          <a:prstGeom prst="roundRect">
            <a:avLst>
              <a:gd name="adj" fmla="val 6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80" y="1207008"/>
            <a:ext cx="3383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FB923C"/>
                </a:solidFill>
                <a:latin typeface="Calibri"/>
              </a:rPr>
              <a:t>Learned Rule Structure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1600200"/>
            <a:ext cx="33832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00" b="1">
                <a:solidFill>
                  <a:srgbClr val="F8FAFC"/>
                </a:solidFill>
                <a:latin typeface="Consolas"/>
              </a:rPr>
              <a:t>Source       </a:t>
            </a:r>
            <a:r>
              <a:rPr sz="1000">
                <a:solidFill>
                  <a:srgbClr val="CBD5E1"/>
                </a:solidFill>
                <a:latin typeface="Calibri"/>
              </a:rPr>
              <a:t>Group · Story · Iteration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F8FAFC"/>
                </a:solidFill>
                <a:latin typeface="Consolas"/>
              </a:rPr>
              <a:t>Impact       </a:t>
            </a:r>
            <a:r>
              <a:rPr sz="1000">
                <a:solidFill>
                  <a:srgbClr val="CBD5E1"/>
                </a:solidFill>
                <a:latin typeface="Calibri"/>
              </a:rPr>
              <a:t>Quantified damage metric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F8FAFC"/>
                </a:solidFill>
                <a:latin typeface="Consolas"/>
              </a:rPr>
              <a:t>Pattern      </a:t>
            </a:r>
            <a:r>
              <a:rPr sz="1000">
                <a:solidFill>
                  <a:srgbClr val="CBD5E1"/>
                </a:solidFill>
                <a:latin typeface="Calibri"/>
              </a:rPr>
              <a:t>Repeated error signature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F8FAFC"/>
                </a:solidFill>
                <a:latin typeface="Consolas"/>
              </a:rPr>
              <a:t>Mistake      </a:t>
            </a:r>
            <a:r>
              <a:rPr sz="1000">
                <a:solidFill>
                  <a:srgbClr val="CBD5E1"/>
                </a:solidFill>
                <a:latin typeface="Calibri"/>
              </a:rPr>
              <a:t>What happened, why it failed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F8FAFC"/>
                </a:solidFill>
                <a:latin typeface="Consolas"/>
              </a:rPr>
              <a:t>Anti-Pattern </a:t>
            </a:r>
            <a:r>
              <a:rPr sz="1000">
                <a:solidFill>
                  <a:srgbClr val="CBD5E1"/>
                </a:solidFill>
                <a:latin typeface="Calibri"/>
              </a:rPr>
              <a:t>Bad code example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F8FAFC"/>
                </a:solidFill>
                <a:latin typeface="Consolas"/>
              </a:rPr>
              <a:t>Better       </a:t>
            </a:r>
            <a:r>
              <a:rPr sz="1000">
                <a:solidFill>
                  <a:srgbClr val="CBD5E1"/>
                </a:solidFill>
                <a:latin typeface="Calibri"/>
              </a:rPr>
              <a:t>Correct pattern (with code)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F8FAFC"/>
                </a:solidFill>
                <a:latin typeface="Consolas"/>
              </a:rPr>
              <a:t>Rule         </a:t>
            </a:r>
            <a:r>
              <a:rPr sz="1000">
                <a:solidFill>
                  <a:srgbClr val="CBD5E1"/>
                </a:solidFill>
                <a:latin typeface="Calibri"/>
              </a:rPr>
              <a:t>Concrete instruction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F8FAFC"/>
                </a:solidFill>
                <a:latin typeface="Consolas"/>
              </a:rPr>
              <a:t>Applied in   </a:t>
            </a:r>
            <a:r>
              <a:rPr sz="1000">
                <a:solidFill>
                  <a:srgbClr val="CBD5E1"/>
                </a:solidFill>
                <a:latin typeface="Calibri"/>
              </a:rPr>
              <a:t>Agents/skills required to follow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4846320"/>
            <a:ext cx="594360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Calibri"/>
              </a:rPr>
              <a:t>Claude Harness Engine v1.1.5   ·   Autonomous SDLC for Agentic Software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4846320"/>
            <a:ext cx="100584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Calibri"/>
              </a:rPr>
              <a:t>18 / 30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832104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Calibri"/>
              </a:rPr>
              <a:t>GAN-Inspired Generator vs Evaluator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85800"/>
            <a:ext cx="83210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38BDF8"/>
                </a:solidFill>
                <a:latin typeface="Calibri"/>
              </a:rPr>
              <a:t>Structural separation eliminates self-evaluation bias. Neither agent can do the other's job.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188720"/>
            <a:ext cx="3931920" cy="338328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3657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38BDF8"/>
                </a:solidFill>
                <a:latin typeface="Calibri"/>
              </a:rPr>
              <a:t>Generator (Sonnet)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36576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CBD5E1"/>
                </a:solidFill>
                <a:latin typeface="Calibri"/>
              </a:rPr>
              <a:t>1. Propose sprint contract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CBD5E1"/>
                </a:solidFill>
                <a:latin typeface="Calibri"/>
              </a:rPr>
              <a:t>2. TDD: write failing tests first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CBD5E1"/>
                </a:solidFill>
                <a:latin typeface="Calibri"/>
              </a:rPr>
              <a:t>3. Implement code to pass tests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CBD5E1"/>
                </a:solidFill>
                <a:latin typeface="Calibri"/>
              </a:rPr>
              <a:t>4. Spawn agent team (phased DAG)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CBD5E1"/>
                </a:solidFill>
                <a:latin typeface="Calibri"/>
              </a:rPr>
              <a:t>5. Self-heal on failure (max 3)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CBD5E1"/>
                </a:solidFill>
                <a:latin typeface="Calibri"/>
              </a:rPr>
              <a:t>6. Hand off to evaluator — never grade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2606040"/>
            <a:ext cx="365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FB923C"/>
                </a:solidFill>
                <a:latin typeface="Calibri"/>
              </a:rPr>
              <a:t>VS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00600" y="1188720"/>
            <a:ext cx="3931920" cy="338328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1280160"/>
            <a:ext cx="3657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B923C"/>
                </a:solidFill>
                <a:latin typeface="Calibri"/>
              </a:rPr>
              <a:t>Evaluator (Opus)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1691640"/>
            <a:ext cx="36576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CBD5E1"/>
                </a:solidFill>
                <a:latin typeface="Calibri"/>
              </a:rPr>
              <a:t>1. Finalize sprint contract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CBD5E1"/>
                </a:solidFill>
                <a:latin typeface="Calibri"/>
              </a:rPr>
              <a:t>2. Start app (Docker / local / stub)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CBD5E1"/>
                </a:solidFill>
                <a:latin typeface="Calibri"/>
              </a:rPr>
              <a:t>3. Layer 1: curl API endpoints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CBD5E1"/>
                </a:solidFill>
                <a:latin typeface="Calibri"/>
              </a:rPr>
              <a:t>4. Layer 2: Playwright UI tests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CBD5E1"/>
                </a:solidFill>
                <a:latin typeface="Calibri"/>
              </a:rPr>
              <a:t>5. Layer 3: design-critic vision scoring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CBD5E1"/>
                </a:solidFill>
                <a:latin typeface="Calibri"/>
              </a:rPr>
              <a:t>6. Emit structured failures, never patch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4846320"/>
            <a:ext cx="594360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Calibri"/>
              </a:rPr>
              <a:t>Claude Harness Engine v1.1.5   ·   Autonomous SDLC for Agentic Software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4846320"/>
            <a:ext cx="100584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Calibri"/>
              </a:rPr>
              <a:t>19 / 30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832104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Calibri"/>
              </a:rPr>
              <a:t>Three-Layer Evaluation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85800"/>
            <a:ext cx="83210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38BDF8"/>
                </a:solidFill>
                <a:latin typeface="Calibri"/>
              </a:rPr>
              <a:t>Evaluator never reads source code — only runs the app and checks observable behavior.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143000"/>
            <a:ext cx="2697480" cy="32461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" y="1280160"/>
            <a:ext cx="2368296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38BDF8"/>
                </a:solidFill>
                <a:latin typeface="Calibri"/>
              </a:rPr>
              <a:t>Layer 1 · API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" y="1737360"/>
            <a:ext cx="2368296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F8FAFC"/>
                </a:solidFill>
                <a:latin typeface="Calibri"/>
              </a:rPr>
              <a:t>Tool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1984248"/>
            <a:ext cx="2368296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curl + jsonschema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" y="2834640"/>
            <a:ext cx="2368296" cy="1508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Catches:
backend logic, schema mismatches, error handling, status codes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0" y="1143000"/>
            <a:ext cx="2697480" cy="32461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64992" y="1280160"/>
            <a:ext cx="2368296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B923C"/>
                </a:solidFill>
                <a:latin typeface="Calibri"/>
              </a:rPr>
              <a:t>Layer 2 · Playwright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64992" y="1737360"/>
            <a:ext cx="2368296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F8FAFC"/>
                </a:solidFill>
                <a:latin typeface="Calibri"/>
              </a:rPr>
              <a:t>Tool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64992" y="1984248"/>
            <a:ext cx="2368296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Semantic selectors
(role, label, text, testid)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64992" y="2834640"/>
            <a:ext cx="2368296" cy="1508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Catches:
frontend bugs, broken forms, dead buttons, missing flows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89320" y="1143000"/>
            <a:ext cx="2697480" cy="32461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53912" y="1280160"/>
            <a:ext cx="2368296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A78BFA"/>
                </a:solidFill>
                <a:latin typeface="Calibri"/>
              </a:rPr>
              <a:t>Layer 3 · Vision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53912" y="1737360"/>
            <a:ext cx="2368296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F8FAFC"/>
                </a:solidFill>
                <a:latin typeface="Calibri"/>
              </a:rPr>
              <a:t>Tool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53912" y="1984248"/>
            <a:ext cx="2368296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design-critic agent
(Opus + screenshots)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53912" y="2834640"/>
            <a:ext cx="2368296" cy="1508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Catches:
generic templates, poor spacing, weak typography, low originality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846320"/>
            <a:ext cx="594360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Calibri"/>
              </a:rPr>
              <a:t>Claude Harness Engine v1.1.5   ·   Autonomous SDLC for Agentic Software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4846320"/>
            <a:ext cx="100584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Calibri"/>
              </a:rPr>
              <a:t>20 / 30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832104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Calibri"/>
              </a:rPr>
              <a:t>Design-Critic GAN Scoring (Full Mode)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85800"/>
            <a:ext cx="83210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38BDF8"/>
                </a:solidFill>
                <a:latin typeface="Calibri"/>
              </a:rPr>
              <a:t>Score = (DQ × 1.5  +  O × 1.5  +  C × 0.75  +  F × 0.75)  /  4.5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143000"/>
            <a:ext cx="2011680" cy="19202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94360" y="1307592"/>
            <a:ext cx="502920" cy="50292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307592"/>
            <a:ext cx="5029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Calibri"/>
              </a:rPr>
              <a:t>DQ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32588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38BDF8"/>
                </a:solidFill>
                <a:latin typeface="Calibri"/>
              </a:rPr>
              <a:t>1.5×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60020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8FAFC"/>
                </a:solidFill>
                <a:latin typeface="Calibri"/>
              </a:rPr>
              <a:t>Design Quality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" y="2011680"/>
            <a:ext cx="1682496" cy="9601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Visual coherence, color palette, layout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14600" y="1143000"/>
            <a:ext cx="2011680" cy="19202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697480" y="1307592"/>
            <a:ext cx="502920" cy="502920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97480" y="1307592"/>
            <a:ext cx="5029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Calibri"/>
              </a:rPr>
              <a:t>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132588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B923C"/>
                </a:solidFill>
                <a:latin typeface="Calibri"/>
              </a:rPr>
              <a:t>1.5×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160020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8FAFC"/>
                </a:solidFill>
                <a:latin typeface="Calibri"/>
              </a:rPr>
              <a:t>Originality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79192" y="2011680"/>
            <a:ext cx="1682496" cy="9601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Custom vs template defaults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17720" y="1143000"/>
            <a:ext cx="2011680" cy="19202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800600" y="1307592"/>
            <a:ext cx="502920" cy="502920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00600" y="1307592"/>
            <a:ext cx="5029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Calibri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94960" y="132588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4ADE80"/>
                </a:solidFill>
                <a:latin typeface="Calibri"/>
              </a:rPr>
              <a:t>0.75×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94960" y="160020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8FAFC"/>
                </a:solidFill>
                <a:latin typeface="Calibri"/>
              </a:rPr>
              <a:t>Craft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82312" y="2011680"/>
            <a:ext cx="1682496" cy="9601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Typography, spacing, alignment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720840" y="1143000"/>
            <a:ext cx="2011680" cy="19202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903720" y="1307592"/>
            <a:ext cx="502920" cy="50292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03720" y="1307592"/>
            <a:ext cx="5029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Calibri"/>
              </a:rPr>
              <a:t>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80" y="132588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A78BFA"/>
                </a:solidFill>
                <a:latin typeface="Calibri"/>
              </a:rPr>
              <a:t>0.75×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0" y="160020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8FAFC"/>
                </a:solidFill>
                <a:latin typeface="Calibri"/>
              </a:rPr>
              <a:t>Functionality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85432" y="2011680"/>
            <a:ext cx="1682496" cy="9601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User can understand and complete tasks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11480" y="3246120"/>
            <a:ext cx="4114800" cy="1417320"/>
          </a:xfrm>
          <a:prstGeom prst="roundRect">
            <a:avLst>
              <a:gd name="adj" fmla="val 6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3337560"/>
            <a:ext cx="384048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BBF24"/>
                </a:solidFill>
                <a:latin typeface="Calibri"/>
              </a:rPr>
              <a:t>Pass conditions (BOTH required)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3611880"/>
            <a:ext cx="3840480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1. Weighted average ≥ 7.0  (calibration-profile.json)
2. ALL four individual scores ≥ 5.0 minimum
A high weighted average cannot mask a weak criterion.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617720" y="3246120"/>
            <a:ext cx="4114800" cy="1417320"/>
          </a:xfrm>
          <a:prstGeom prst="roundRect">
            <a:avLst>
              <a:gd name="adj" fmla="val 6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54880" y="3337560"/>
            <a:ext cx="384048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B923C"/>
                </a:solidFill>
                <a:latin typeface="Calibri"/>
              </a:rPr>
              <a:t>Plateau detection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54880" y="3611880"/>
            <a:ext cx="3840480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If scores plateau across N iterations, the system forces a fundamental design pivot — new palette, layout, and typography pairing. Max 10 iterations (configurable).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" y="4846320"/>
            <a:ext cx="594360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Calibri"/>
              </a:rPr>
              <a:t>Claude Harness Engine v1.1.5   ·   Autonomous SDLC for Agentic Software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0" y="4846320"/>
            <a:ext cx="100584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Calibri"/>
              </a:rPr>
              <a:t>21 / 30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832104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Calibri"/>
              </a:rPr>
              <a:t>Session Chaining — Multi-Context Recovery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85800"/>
            <a:ext cx="83210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38BDF8"/>
                </a:solidFill>
                <a:latin typeface="Calibri"/>
              </a:rPr>
              <a:t>Long builds survive context window limits through append-only state files.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188720"/>
            <a:ext cx="8321040" cy="5029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48640" y="1280160"/>
            <a:ext cx="310896" cy="310896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80160"/>
            <a:ext cx="310896" cy="31089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307592"/>
            <a:ext cx="242316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38BDF8"/>
                </a:solidFill>
                <a:latin typeface="Consolas"/>
              </a:rPr>
              <a:t>program.md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1307592"/>
            <a:ext cx="52120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Constraints, steering directives — humans edit mid-run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1737360"/>
            <a:ext cx="8321040" cy="502920"/>
          </a:xfrm>
          <a:prstGeom prst="roundRect">
            <a:avLst>
              <a:gd name="adj" fmla="val 6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48640" y="1828800"/>
            <a:ext cx="310896" cy="310896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828800"/>
            <a:ext cx="310896" cy="31089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1856232"/>
            <a:ext cx="242316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B923C"/>
                </a:solidFill>
                <a:latin typeface="Consolas"/>
              </a:rPr>
              <a:t>learned-rules.md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1856232"/>
            <a:ext cx="52120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Institutional memory — injected verbatim into all agent prompts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2286000"/>
            <a:ext cx="8321040" cy="5029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48640" y="2377440"/>
            <a:ext cx="310896" cy="310896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2377440"/>
            <a:ext cx="310896" cy="31089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2404872"/>
            <a:ext cx="242316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4ADE80"/>
                </a:solidFill>
                <a:latin typeface="Consolas"/>
              </a:rPr>
              <a:t>claude-progress.txt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9000" y="2404872"/>
            <a:ext cx="52120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Current group, completed groups, next action, coverage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" y="2834640"/>
            <a:ext cx="8321040" cy="502920"/>
          </a:xfrm>
          <a:prstGeom prst="roundRect">
            <a:avLst>
              <a:gd name="adj" fmla="val 6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48640" y="2926080"/>
            <a:ext cx="310896" cy="310896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2926080"/>
            <a:ext cx="310896" cy="31089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2953512"/>
            <a:ext cx="242316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A78BFA"/>
                </a:solidFill>
                <a:latin typeface="Consolas"/>
              </a:rPr>
              <a:t>features.json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29000" y="2953512"/>
            <a:ext cx="52120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Pass/fail state for all features with failure layer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1480" y="3383280"/>
            <a:ext cx="8321040" cy="5029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48640" y="3474720"/>
            <a:ext cx="310896" cy="310896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3474720"/>
            <a:ext cx="310896" cy="31089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  <a:latin typeface="Calibr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3502152"/>
            <a:ext cx="242316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BBF24"/>
                </a:solidFill>
                <a:latin typeface="Consolas"/>
              </a:rPr>
              <a:t>dependency-graph.md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29000" y="3502152"/>
            <a:ext cx="52120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Pick next unfinished group in sequence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11480" y="3931920"/>
            <a:ext cx="8321040" cy="502920"/>
          </a:xfrm>
          <a:prstGeom prst="roundRect">
            <a:avLst>
              <a:gd name="adj" fmla="val 6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48640" y="4023360"/>
            <a:ext cx="310896" cy="310896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4023360"/>
            <a:ext cx="310896" cy="31089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  <a:latin typeface="Calibri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" y="4050792"/>
            <a:ext cx="242316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87171"/>
                </a:solidFill>
                <a:latin typeface="Consolas"/>
              </a:rPr>
              <a:t>iteration-log.md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29000" y="4050792"/>
            <a:ext cx="52120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Append-only history of evaluator verdicts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" y="4526280"/>
            <a:ext cx="83210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Recovery cost: ~700-1000 tokens. Negligible vs context window.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4846320"/>
            <a:ext cx="594360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Calibri"/>
              </a:rPr>
              <a:t>Claude Harness Engine v1.1.5   ·   Autonomous SDLC for Agentic Software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0" y="4846320"/>
            <a:ext cx="100584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Calibri"/>
              </a:rPr>
              <a:t>22 / 30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832104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Calibri"/>
              </a:rPr>
              <a:t>Four Execution Modes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85800"/>
            <a:ext cx="83210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38BDF8"/>
                </a:solidFill>
                <a:latin typeface="Calibri"/>
              </a:rPr>
              <a:t>Pick the mode that matches stakes and budget. /auto and /build accept --mode.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143000"/>
            <a:ext cx="2011680" cy="32461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280160"/>
            <a:ext cx="20116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38BDF8"/>
                </a:solidFill>
                <a:latin typeface="Calibri"/>
              </a:rPr>
              <a:t>Full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737360"/>
            <a:ext cx="20116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F8FAFC"/>
                </a:solidFill>
                <a:latin typeface="Calibri"/>
              </a:rPr>
              <a:t>$100-300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2148840"/>
            <a:ext cx="1682496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1">
                <a:solidFill>
                  <a:srgbClr val="94A3B8"/>
                </a:solidFill>
                <a:latin typeface="Calibri"/>
              </a:rPr>
              <a:t>Gates
</a:t>
            </a:r>
            <a:r>
              <a:rPr sz="1100">
                <a:solidFill>
                  <a:srgbClr val="F8FAFC"/>
                </a:solidFill>
                <a:latin typeface="Calibri"/>
              </a:rPr>
              <a:t>All 6 gates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94A3B8"/>
                </a:solidFill>
                <a:latin typeface="Calibri"/>
              </a:rPr>
              <a:t>Teams
</a:t>
            </a:r>
            <a:r>
              <a:rPr sz="1100">
                <a:solidFill>
                  <a:srgbClr val="F8FAFC"/>
                </a:solidFill>
                <a:latin typeface="Calibri"/>
              </a:rPr>
              <a:t>Phased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94A3B8"/>
                </a:solidFill>
                <a:latin typeface="Calibri"/>
              </a:rPr>
              <a:t>Use
</a:t>
            </a:r>
            <a:r>
              <a:rPr sz="1100">
                <a:solidFill>
                  <a:srgbClr val="F8FAFC"/>
                </a:solidFill>
                <a:latin typeface="Calibri"/>
              </a:rPr>
              <a:t>Complex, high-stakes apps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14600" y="1143000"/>
            <a:ext cx="2011680" cy="32461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14600" y="1280160"/>
            <a:ext cx="20116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FB923C"/>
                </a:solidFill>
                <a:latin typeface="Calibri"/>
              </a:rPr>
              <a:t>Lean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4600" y="1737360"/>
            <a:ext cx="20116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F8FAFC"/>
                </a:solidFill>
                <a:latin typeface="Calibri"/>
              </a:rPr>
              <a:t>$30-80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79192" y="2148840"/>
            <a:ext cx="1682496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1">
                <a:solidFill>
                  <a:srgbClr val="94A3B8"/>
                </a:solidFill>
                <a:latin typeface="Calibri"/>
              </a:rPr>
              <a:t>Gates
</a:t>
            </a:r>
            <a:r>
              <a:rPr sz="1100">
                <a:solidFill>
                  <a:srgbClr val="F8FAFC"/>
                </a:solidFill>
                <a:latin typeface="Calibri"/>
              </a:rPr>
              <a:t>Gates 1-5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94A3B8"/>
                </a:solidFill>
                <a:latin typeface="Calibri"/>
              </a:rPr>
              <a:t>Teams
</a:t>
            </a:r>
            <a:r>
              <a:rPr sz="1100">
                <a:solidFill>
                  <a:srgbClr val="F8FAFC"/>
                </a:solidFill>
                <a:latin typeface="Calibri"/>
              </a:rPr>
              <a:t>Phased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94A3B8"/>
                </a:solidFill>
                <a:latin typeface="Calibri"/>
              </a:rPr>
              <a:t>Use
</a:t>
            </a:r>
            <a:r>
              <a:rPr sz="1100">
                <a:solidFill>
                  <a:srgbClr val="F8FAFC"/>
                </a:solidFill>
                <a:latin typeface="Calibri"/>
              </a:rPr>
              <a:t>Backend-heavy, internal tools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143000"/>
            <a:ext cx="2011680" cy="32461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20" y="1280160"/>
            <a:ext cx="20116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4ADE80"/>
                </a:solidFill>
                <a:latin typeface="Calibri"/>
              </a:rPr>
              <a:t>Solo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1737360"/>
            <a:ext cx="20116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F8FAFC"/>
                </a:solidFill>
                <a:latin typeface="Calibri"/>
              </a:rPr>
              <a:t>$5-15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82312" y="2148840"/>
            <a:ext cx="1682496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1">
                <a:solidFill>
                  <a:srgbClr val="94A3B8"/>
                </a:solidFill>
                <a:latin typeface="Calibri"/>
              </a:rPr>
              <a:t>Gates
</a:t>
            </a:r>
            <a:r>
              <a:rPr sz="1100">
                <a:solidFill>
                  <a:srgbClr val="F8FAFC"/>
                </a:solidFill>
                <a:latin typeface="Calibri"/>
              </a:rPr>
              <a:t>Gates 1-3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94A3B8"/>
                </a:solidFill>
                <a:latin typeface="Calibri"/>
              </a:rPr>
              <a:t>Teams
</a:t>
            </a:r>
            <a:r>
              <a:rPr sz="1100">
                <a:solidFill>
                  <a:srgbClr val="F8FAFC"/>
                </a:solidFill>
                <a:latin typeface="Calibri"/>
              </a:rPr>
              <a:t>None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94A3B8"/>
                </a:solidFill>
                <a:latin typeface="Calibri"/>
              </a:rPr>
              <a:t>Use
</a:t>
            </a:r>
            <a:r>
              <a:rPr sz="1100">
                <a:solidFill>
                  <a:srgbClr val="F8FAFC"/>
                </a:solidFill>
                <a:latin typeface="Calibri"/>
              </a:rPr>
              <a:t>Bug fixes, small features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20840" y="1143000"/>
            <a:ext cx="2011680" cy="32461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20840" y="1280160"/>
            <a:ext cx="20116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A78BFA"/>
                </a:solidFill>
                <a:latin typeface="Calibri"/>
              </a:rPr>
              <a:t>Turbo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1737360"/>
            <a:ext cx="20116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F8FAFC"/>
                </a:solidFill>
                <a:latin typeface="Calibri"/>
              </a:rPr>
              <a:t>$30-50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85432" y="2148840"/>
            <a:ext cx="1682496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1">
                <a:solidFill>
                  <a:srgbClr val="94A3B8"/>
                </a:solidFill>
                <a:latin typeface="Calibri"/>
              </a:rPr>
              <a:t>Gates
</a:t>
            </a:r>
            <a:r>
              <a:rPr sz="1100">
                <a:solidFill>
                  <a:srgbClr val="F8FAFC"/>
                </a:solidFill>
                <a:latin typeface="Calibri"/>
              </a:rPr>
              <a:t>1-3 per cmt + 4-6 once at end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94A3B8"/>
                </a:solidFill>
                <a:latin typeface="Calibri"/>
              </a:rPr>
              <a:t>Teams
</a:t>
            </a:r>
            <a:r>
              <a:rPr sz="1100">
                <a:solidFill>
                  <a:srgbClr val="F8FAFC"/>
                </a:solidFill>
                <a:latin typeface="Calibri"/>
              </a:rPr>
              <a:t>Phased (single contract)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94A3B8"/>
                </a:solidFill>
                <a:latin typeface="Calibri"/>
              </a:rPr>
              <a:t>Use
</a:t>
            </a:r>
            <a:r>
              <a:rPr sz="1100">
                <a:solidFill>
                  <a:srgbClr val="F8FAFC"/>
                </a:solidFill>
                <a:latin typeface="Calibri"/>
              </a:rPr>
              <a:t>Highly capable model + well-spec'd build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4846320"/>
            <a:ext cx="594360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Calibri"/>
              </a:rPr>
              <a:t>Claude Harness Engine v1.1.5   ·   Autonomous SDLC for Agentic Software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4846320"/>
            <a:ext cx="100584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Calibri"/>
              </a:rPr>
              <a:t>23 / 30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832104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Calibri"/>
              </a:rPr>
              <a:t>Superpowers Integration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85800"/>
            <a:ext cx="83210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38BDF8"/>
                </a:solidFill>
                <a:latin typeface="Calibri"/>
              </a:rPr>
              <a:t>The harness invokes superpowers:* skills at five named pipeline stages.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188720"/>
            <a:ext cx="26060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94A3B8"/>
                </a:solidFill>
                <a:latin typeface="Calibri"/>
              </a:rPr>
              <a:t>HARNESS STAGE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1188720"/>
            <a:ext cx="2331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94A3B8"/>
                </a:solidFill>
                <a:latin typeface="Calibri"/>
              </a:rPr>
              <a:t>SUPERPOWER SKILL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49240" y="1188720"/>
            <a:ext cx="3383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94A3B8"/>
                </a:solidFill>
                <a:latin typeface="Calibri"/>
              </a:rPr>
              <a:t>PURPOSE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481328"/>
            <a:ext cx="8412480" cy="530352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609344"/>
            <a:ext cx="2606040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38BDF8"/>
                </a:solidFill>
                <a:latin typeface="Consolas"/>
              </a:rPr>
              <a:t>/brd · /design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1609344"/>
            <a:ext cx="2331720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F8FAFC"/>
                </a:solidFill>
                <a:latin typeface="Consolas"/>
              </a:rPr>
              <a:t>brainstorming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49240" y="1609344"/>
            <a:ext cx="3383280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Explore alternatives before committing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2048256"/>
            <a:ext cx="8412480" cy="530352"/>
          </a:xfrm>
          <a:prstGeom prst="roundRect">
            <a:avLst>
              <a:gd name="adj" fmla="val 6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2176272"/>
            <a:ext cx="2606040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B923C"/>
                </a:solidFill>
                <a:latin typeface="Consolas"/>
              </a:rPr>
              <a:t>/implement · /refactor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2176272"/>
            <a:ext cx="2331720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F8FAFC"/>
                </a:solidFill>
                <a:latin typeface="Consolas"/>
              </a:rPr>
              <a:t>writing-plans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9240" y="2176272"/>
            <a:ext cx="3383280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Structured plans before code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2615184"/>
            <a:ext cx="8412480" cy="530352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2743200"/>
            <a:ext cx="2606040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4ADE80"/>
                </a:solidFill>
                <a:latin typeface="Consolas"/>
              </a:rPr>
              <a:t>/implement (teammates)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2743200"/>
            <a:ext cx="2331720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F8FAFC"/>
                </a:solidFill>
                <a:latin typeface="Consolas"/>
              </a:rPr>
              <a:t>test-driven-development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49240" y="2743200"/>
            <a:ext cx="3383280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Red-green-refactor in every agent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3182112"/>
            <a:ext cx="8412480" cy="530352"/>
          </a:xfrm>
          <a:prstGeom prst="roundRect">
            <a:avLst>
              <a:gd name="adj" fmla="val 6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3310128"/>
            <a:ext cx="2606040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A78BFA"/>
                </a:solidFill>
                <a:latin typeface="Consolas"/>
              </a:rPr>
              <a:t>/fix-issue · /auto heal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17520" y="3310128"/>
            <a:ext cx="2331720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F8FAFC"/>
                </a:solidFill>
                <a:latin typeface="Consolas"/>
              </a:rPr>
              <a:t>systematic-debugging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49240" y="3310128"/>
            <a:ext cx="3383280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Root cause analysis before fixing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3749040"/>
            <a:ext cx="8412480" cy="530352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3877056"/>
            <a:ext cx="2606040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BBF24"/>
                </a:solidFill>
                <a:latin typeface="Consolas"/>
              </a:rPr>
              <a:t>/auto (done) · evaluator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17520" y="3877056"/>
            <a:ext cx="2331720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F8FAFC"/>
                </a:solidFill>
                <a:latin typeface="Consolas"/>
              </a:rPr>
              <a:t>verification-before-completion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49240" y="3877056"/>
            <a:ext cx="3383280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Evidence before claiming PASS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" y="4846320"/>
            <a:ext cx="594360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Calibri"/>
              </a:rPr>
              <a:t>Claude Harness Engine v1.1.5   ·   Autonomous SDLC for Agentic Software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0" y="4846320"/>
            <a:ext cx="100584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Calibri"/>
              </a:rPr>
              <a:t>24 / 30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832104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Calibri"/>
              </a:rPr>
              <a:t>Plugin Ecosystem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85800"/>
            <a:ext cx="83210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38BDF8"/>
                </a:solidFill>
                <a:latin typeface="Calibri"/>
              </a:rPr>
              <a:t>8 official plugins enabled in settings.json — complementary, never conflicting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188720"/>
            <a:ext cx="4069080" cy="7772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" y="1280160"/>
            <a:ext cx="3739896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38BDF8"/>
                </a:solidFill>
                <a:latin typeface="Consolas"/>
              </a:rPr>
              <a:t>superpowers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" y="1572768"/>
            <a:ext cx="3739896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brainstorming · writing-plans · TDD · debugging · verification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3440" y="1188720"/>
            <a:ext cx="4069080" cy="7772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28032" y="1280160"/>
            <a:ext cx="3739896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B923C"/>
                </a:solidFill>
                <a:latin typeface="Consolas"/>
              </a:rPr>
              <a:t>code-review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28032" y="1572768"/>
            <a:ext cx="3739896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Multi-agent PR review with confidence scoring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2020824"/>
            <a:ext cx="4069080" cy="7772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6072" y="2112264"/>
            <a:ext cx="3739896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4ADE80"/>
                </a:solidFill>
                <a:latin typeface="Consolas"/>
              </a:rPr>
              <a:t>commit-commands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" y="2404872"/>
            <a:ext cx="3739896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/commit · /commit-push-pr git workflows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63440" y="2020824"/>
            <a:ext cx="4069080" cy="7772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28032" y="2112264"/>
            <a:ext cx="3739896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A78BFA"/>
                </a:solidFill>
                <a:latin typeface="Consolas"/>
              </a:rPr>
              <a:t>security-guidance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2404872"/>
            <a:ext cx="3739896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Edit-time security pattern checking (XSS, eval, raw HTML)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2852928"/>
            <a:ext cx="4069080" cy="7772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6072" y="2944368"/>
            <a:ext cx="3739896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BBF24"/>
                </a:solidFill>
                <a:latin typeface="Consolas"/>
              </a:rPr>
              <a:t>pr-review-toolkit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6072" y="3236976"/>
            <a:ext cx="3739896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Specialized PR agents (comments, tests, errors, types)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63440" y="2852928"/>
            <a:ext cx="4069080" cy="7772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28032" y="2944368"/>
            <a:ext cx="3739896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87171"/>
                </a:solidFill>
                <a:latin typeface="Consolas"/>
              </a:rPr>
              <a:t>frontend-design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28032" y="3236976"/>
            <a:ext cx="3739896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Aesthetic-direction skill used by ui-designer + frontend teams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1480" y="3685032"/>
            <a:ext cx="4069080" cy="7772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6072" y="3776472"/>
            <a:ext cx="3739896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38BDF8"/>
                </a:solidFill>
                <a:latin typeface="Consolas"/>
              </a:rPr>
              <a:t>context7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72" y="4069080"/>
            <a:ext cx="3739896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MCP for up-to-date library/docs lookup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663440" y="3685032"/>
            <a:ext cx="4069080" cy="7772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28032" y="3776472"/>
            <a:ext cx="3739896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B923C"/>
                </a:solidFill>
                <a:latin typeface="Consolas"/>
              </a:rPr>
              <a:t>code-simplifier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28032" y="4069080"/>
            <a:ext cx="3739896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/simplify skill used during /refactor for cleanup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4526280"/>
            <a:ext cx="83210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Excluded by design: feature-dev (overlaps SDLC pipeline), hookify (would interfere with purpose-built hooks).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4846320"/>
            <a:ext cx="594360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Calibri"/>
              </a:rPr>
              <a:t>Claude Harness Engine v1.1.5   ·   Autonomous SDLC for Agentic Software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0" y="4846320"/>
            <a:ext cx="100584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Calibri"/>
              </a:rPr>
              <a:t>25 / 30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832104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Calibri"/>
              </a:rPr>
              <a:t>Agile Pod vs Agentic Pod — Team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85800"/>
            <a:ext cx="83210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38BDF8"/>
                </a:solidFill>
                <a:latin typeface="Calibri"/>
              </a:rPr>
              <a:t>Same outcome, very different cast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143000"/>
            <a:ext cx="4114800" cy="34747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07008"/>
            <a:ext cx="3840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38BDF8"/>
                </a:solidFill>
                <a:latin typeface="Calibri"/>
              </a:rPr>
              <a:t>Traditional Agile Pod  ·  6-10 people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27632"/>
            <a:ext cx="38404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1">
                <a:solidFill>
                  <a:srgbClr val="F8FAFC"/>
                </a:solidFill>
                <a:latin typeface="Calibri"/>
              </a:rPr>
              <a:t>Solutions Architect  </a:t>
            </a:r>
            <a:r>
              <a:rPr sz="1100">
                <a:solidFill>
                  <a:srgbClr val="CBD5E1"/>
                </a:solidFill>
                <a:latin typeface="Calibri"/>
              </a:rPr>
              <a:t>(1) — System design, tech decisions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F8FAFC"/>
                </a:solidFill>
                <a:latin typeface="Calibri"/>
              </a:rPr>
              <a:t>Frontend Developer  </a:t>
            </a:r>
            <a:r>
              <a:rPr sz="1100">
                <a:solidFill>
                  <a:srgbClr val="CBD5E1"/>
                </a:solidFill>
                <a:latin typeface="Calibri"/>
              </a:rPr>
              <a:t>(2-3) — UI/UX implementation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F8FAFC"/>
                </a:solidFill>
                <a:latin typeface="Calibri"/>
              </a:rPr>
              <a:t>Backend Developer  </a:t>
            </a:r>
            <a:r>
              <a:rPr sz="1100">
                <a:solidFill>
                  <a:srgbClr val="CBD5E1"/>
                </a:solidFill>
                <a:latin typeface="Calibri"/>
              </a:rPr>
              <a:t>(2-3) — APIs, services, data layer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F8FAFC"/>
                </a:solidFill>
                <a:latin typeface="Calibri"/>
              </a:rPr>
              <a:t>Business Analyst  </a:t>
            </a:r>
            <a:r>
              <a:rPr sz="1100">
                <a:solidFill>
                  <a:srgbClr val="CBD5E1"/>
                </a:solidFill>
                <a:latin typeface="Calibri"/>
              </a:rPr>
              <a:t>(1) — Requirements, acceptance criteria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F8FAFC"/>
                </a:solidFill>
                <a:latin typeface="Calibri"/>
              </a:rPr>
              <a:t>QA Engineer  </a:t>
            </a:r>
            <a:r>
              <a:rPr sz="1100">
                <a:solidFill>
                  <a:srgbClr val="CBD5E1"/>
                </a:solidFill>
                <a:latin typeface="Calibri"/>
              </a:rPr>
              <a:t>(1-2) — Test plans, manual + automated testing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F8FAFC"/>
                </a:solidFill>
                <a:latin typeface="Calibri"/>
              </a:rPr>
              <a:t>Scrum Master  </a:t>
            </a:r>
            <a:r>
              <a:rPr sz="1100">
                <a:solidFill>
                  <a:srgbClr val="CBD5E1"/>
                </a:solidFill>
                <a:latin typeface="Calibri"/>
              </a:rPr>
              <a:t>(1) — Sprint ceremonies, impediment removal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17720" y="1143000"/>
            <a:ext cx="4114800" cy="34747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1207008"/>
            <a:ext cx="3840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FB923C"/>
                </a:solidFill>
                <a:latin typeface="Calibri"/>
              </a:rPr>
              <a:t>Agentic Pod  ·  3-4 people + 7 AI agents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627632"/>
            <a:ext cx="38404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900" b="1">
                <a:solidFill>
                  <a:srgbClr val="38BDF8"/>
                </a:solidFill>
                <a:latin typeface="Consolas"/>
              </a:rPr>
              <a:t>[HUMAN] </a:t>
            </a:r>
            <a:r>
              <a:rPr sz="1100" b="1">
                <a:solidFill>
                  <a:srgbClr val="F8FAFC"/>
                </a:solidFill>
                <a:latin typeface="Calibri"/>
              </a:rPr>
              <a:t>Engineer (Full-Stack)  </a:t>
            </a:r>
            <a:r>
              <a:rPr sz="1000">
                <a:solidFill>
                  <a:srgbClr val="CBD5E1"/>
                </a:solidFill>
                <a:latin typeface="Calibri"/>
              </a:rPr>
              <a:t>Reviews + steers /auto via program.md</a:t>
            </a:r>
          </a:p>
          <a:p>
            <a:pPr>
              <a:spcAft>
                <a:spcPts val="600"/>
              </a:spcAft>
            </a:pPr>
            <a:r>
              <a:rPr sz="900" b="1">
                <a:solidFill>
                  <a:srgbClr val="38BDF8"/>
                </a:solidFill>
                <a:latin typeface="Consolas"/>
              </a:rPr>
              <a:t>[HUMAN] </a:t>
            </a:r>
            <a:r>
              <a:rPr sz="1100" b="1">
                <a:solidFill>
                  <a:srgbClr val="F8FAFC"/>
                </a:solidFill>
                <a:latin typeface="Calibri"/>
              </a:rPr>
              <a:t>Business Analyst  </a:t>
            </a:r>
            <a:r>
              <a:rPr sz="1000">
                <a:solidFill>
                  <a:srgbClr val="CBD5E1"/>
                </a:solidFill>
                <a:latin typeface="Calibri"/>
              </a:rPr>
              <a:t>Owns BRD — the highest-leverage role now</a:t>
            </a:r>
          </a:p>
          <a:p>
            <a:pPr>
              <a:spcAft>
                <a:spcPts val="600"/>
              </a:spcAft>
            </a:pPr>
            <a:r>
              <a:rPr sz="900" b="1">
                <a:solidFill>
                  <a:srgbClr val="38BDF8"/>
                </a:solidFill>
                <a:latin typeface="Consolas"/>
              </a:rPr>
              <a:t>[HUMAN] </a:t>
            </a:r>
            <a:r>
              <a:rPr sz="1100" b="1">
                <a:solidFill>
                  <a:srgbClr val="F8FAFC"/>
                </a:solidFill>
                <a:latin typeface="Calibri"/>
              </a:rPr>
              <a:t>Solutions Architect  </a:t>
            </a:r>
            <a:r>
              <a:rPr sz="1000">
                <a:solidFill>
                  <a:srgbClr val="CBD5E1"/>
                </a:solidFill>
                <a:latin typeface="Calibri"/>
              </a:rPr>
              <a:t>Design phase + lane selection</a:t>
            </a:r>
          </a:p>
          <a:p>
            <a:pPr>
              <a:spcAft>
                <a:spcPts val="600"/>
              </a:spcAft>
            </a:pPr>
            <a:r>
              <a:rPr sz="900" b="1">
                <a:solidFill>
                  <a:srgbClr val="FB923C"/>
                </a:solidFill>
                <a:latin typeface="Consolas"/>
              </a:rPr>
              <a:t>[AGENT] </a:t>
            </a:r>
            <a:r>
              <a:rPr sz="1100" b="1">
                <a:solidFill>
                  <a:srgbClr val="F8FAFC"/>
                </a:solidFill>
                <a:latin typeface="Calibri"/>
              </a:rPr>
              <a:t>planner / generator  </a:t>
            </a:r>
            <a:r>
              <a:rPr sz="1000">
                <a:solidFill>
                  <a:srgbClr val="CBD5E1"/>
                </a:solidFill>
                <a:latin typeface="Calibri"/>
              </a:rPr>
              <a:t>BRD/specs · code + tests</a:t>
            </a:r>
          </a:p>
          <a:p>
            <a:pPr>
              <a:spcAft>
                <a:spcPts val="600"/>
              </a:spcAft>
            </a:pPr>
            <a:r>
              <a:rPr sz="900" b="1">
                <a:solidFill>
                  <a:srgbClr val="FB923C"/>
                </a:solidFill>
                <a:latin typeface="Consolas"/>
              </a:rPr>
              <a:t>[AGENT] </a:t>
            </a:r>
            <a:r>
              <a:rPr sz="1100" b="1">
                <a:solidFill>
                  <a:srgbClr val="F8FAFC"/>
                </a:solidFill>
                <a:latin typeface="Calibri"/>
              </a:rPr>
              <a:t>evaluator / design-critic  </a:t>
            </a:r>
            <a:r>
              <a:rPr sz="1000">
                <a:solidFill>
                  <a:srgbClr val="CBD5E1"/>
                </a:solidFill>
                <a:latin typeface="Calibri"/>
              </a:rPr>
              <a:t>Verification (3-layer + vision)</a:t>
            </a:r>
          </a:p>
          <a:p>
            <a:pPr>
              <a:spcAft>
                <a:spcPts val="600"/>
              </a:spcAft>
            </a:pPr>
            <a:r>
              <a:rPr sz="900" b="1">
                <a:solidFill>
                  <a:srgbClr val="FB923C"/>
                </a:solidFill>
                <a:latin typeface="Consolas"/>
              </a:rPr>
              <a:t>[AGENT] </a:t>
            </a:r>
            <a:r>
              <a:rPr sz="1100" b="1">
                <a:solidFill>
                  <a:srgbClr val="F8FAFC"/>
                </a:solidFill>
                <a:latin typeface="Calibri"/>
              </a:rPr>
              <a:t>test-engineer / security-reviewer / ui-designer  </a:t>
            </a:r>
            <a:r>
              <a:rPr sz="1000">
                <a:solidFill>
                  <a:srgbClr val="CBD5E1"/>
                </a:solidFill>
                <a:latin typeface="Calibri"/>
              </a:rPr>
              <a:t>Specialist subagents on demand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4846320"/>
            <a:ext cx="594360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Calibri"/>
              </a:rPr>
              <a:t>Claude Harness Engine v1.1.5   ·   Autonomous SDLC for Agentic Software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4846320"/>
            <a:ext cx="100584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Calibri"/>
              </a:rPr>
              <a:t>26 / 30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832104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Calibri"/>
              </a:rPr>
              <a:t>How the Agentic Pod Changes Delivery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85800"/>
            <a:ext cx="83210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38BDF8"/>
                </a:solidFill>
                <a:latin typeface="Calibri"/>
              </a:rPr>
              <a:t>Side-by-side dimensions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188720"/>
            <a:ext cx="20116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94A3B8"/>
                </a:solidFill>
                <a:latin typeface="Calibri"/>
              </a:rPr>
              <a:t>DIMENSION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23160" y="1188720"/>
            <a:ext cx="31089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94A3B8"/>
                </a:solidFill>
                <a:latin typeface="Calibri"/>
              </a:rPr>
              <a:t>TRADITIONAL AGILE POD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32120" y="1188720"/>
            <a:ext cx="3200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94A3B8"/>
                </a:solidFill>
                <a:latin typeface="Calibri"/>
              </a:rPr>
              <a:t>AGENTIC POD + HARNESS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481328"/>
            <a:ext cx="8412480" cy="384048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572768"/>
            <a:ext cx="2011680" cy="42062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38BDF8"/>
                </a:solidFill>
                <a:latin typeface="Calibri"/>
              </a:rPr>
              <a:t>Team Size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23160" y="1572768"/>
            <a:ext cx="3108960" cy="42062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6-10 people (dedicated)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32120" y="1572768"/>
            <a:ext cx="3200400" cy="42062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F8FAFC"/>
                </a:solidFill>
                <a:latin typeface="Calibri"/>
              </a:rPr>
              <a:t>3-4 people + 7 AI agents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1901952"/>
            <a:ext cx="8412480" cy="384048"/>
          </a:xfrm>
          <a:prstGeom prst="roundRect">
            <a:avLst>
              <a:gd name="adj" fmla="val 6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1993392"/>
            <a:ext cx="2011680" cy="42062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38BDF8"/>
                </a:solidFill>
                <a:latin typeface="Calibri"/>
              </a:rPr>
              <a:t>Frontend/Backend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23160" y="1993392"/>
            <a:ext cx="3108960" cy="42062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Separate devs, handoff overhead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20" y="1993392"/>
            <a:ext cx="3200400" cy="42062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F8FAFC"/>
                </a:solidFill>
                <a:latin typeface="Calibri"/>
              </a:rPr>
              <a:t>One agent generates both, TDD-first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2322576"/>
            <a:ext cx="8412480" cy="384048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2414016"/>
            <a:ext cx="2011680" cy="42062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38BDF8"/>
                </a:solidFill>
                <a:latin typeface="Calibri"/>
              </a:rPr>
              <a:t>QA Process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23160" y="2414016"/>
            <a:ext cx="3108960" cy="42062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Manual + automated by QA engineer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32120" y="2414016"/>
            <a:ext cx="3200400" cy="42062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F8FAFC"/>
                </a:solidFill>
                <a:latin typeface="Calibri"/>
              </a:rPr>
              <a:t>3-layer eval: API + Playwright + Vision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2743200"/>
            <a:ext cx="8412480" cy="384048"/>
          </a:xfrm>
          <a:prstGeom prst="roundRect">
            <a:avLst>
              <a:gd name="adj" fmla="val 6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2834640"/>
            <a:ext cx="2011680" cy="42062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38BDF8"/>
                </a:solidFill>
                <a:latin typeface="Calibri"/>
              </a:rPr>
              <a:t>Code Review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23160" y="2834640"/>
            <a:ext cx="3108960" cy="42062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Peer review, async, delays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32120" y="2834640"/>
            <a:ext cx="3200400" cy="42062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F8FAFC"/>
                </a:solidFill>
                <a:latin typeface="Calibri"/>
              </a:rPr>
              <a:t>GAN evaluator + security reviewer (real-time)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3163824"/>
            <a:ext cx="8412480" cy="384048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3255264"/>
            <a:ext cx="2011680" cy="42062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38BDF8"/>
                </a:solidFill>
                <a:latin typeface="Calibri"/>
              </a:rPr>
              <a:t>Requirements Quality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23160" y="3255264"/>
            <a:ext cx="3108960" cy="42062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Important but recoverable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2120" y="3255264"/>
            <a:ext cx="3200400" cy="42062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F8FAFC"/>
                </a:solidFill>
                <a:latin typeface="Calibri"/>
              </a:rPr>
              <a:t>Critical — drives entire autonomous pipeline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5760" y="3584448"/>
            <a:ext cx="8412480" cy="384048"/>
          </a:xfrm>
          <a:prstGeom prst="roundRect">
            <a:avLst>
              <a:gd name="adj" fmla="val 6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" y="3675888"/>
            <a:ext cx="2011680" cy="42062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38BDF8"/>
                </a:solidFill>
                <a:latin typeface="Calibri"/>
              </a:rPr>
              <a:t>Sprint Velocity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23160" y="3675888"/>
            <a:ext cx="3108960" cy="42062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Story points per sprint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32120" y="3675888"/>
            <a:ext cx="3200400" cy="42062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F8FAFC"/>
                </a:solidFill>
                <a:latin typeface="Calibri"/>
              </a:rPr>
              <a:t>Stories per ratchet iteration (10-50×)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65760" y="4005072"/>
            <a:ext cx="8412480" cy="384048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4096512"/>
            <a:ext cx="2011680" cy="42062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38BDF8"/>
                </a:solidFill>
                <a:latin typeface="Calibri"/>
              </a:rPr>
              <a:t>Quality Gates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423160" y="4096512"/>
            <a:ext cx="3108960" cy="42062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PR reviews, CI checks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532120" y="4096512"/>
            <a:ext cx="3200400" cy="42062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F8FAFC"/>
                </a:solidFill>
                <a:latin typeface="Calibri"/>
              </a:rPr>
              <a:t>14 hooks + 6 ratchet gates on every edit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4846320"/>
            <a:ext cx="594360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Calibri"/>
              </a:rPr>
              <a:t>Claude Harness Engine v1.1.5   ·   Autonomous SDLC for Agentic Software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0" y="4846320"/>
            <a:ext cx="100584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Calibri"/>
              </a:rPr>
              <a:t>27 / 30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832104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Calibri"/>
              </a:rPr>
              <a:t>Case Study — PE Document Intelligence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85800"/>
            <a:ext cx="83210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38BDF8"/>
                </a:solidFill>
                <a:latin typeface="Calibri"/>
              </a:rPr>
              <a:t>Built with Claude Harness Engine — Private Equity LPA / Subscription Document Processing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143000"/>
            <a:ext cx="2011680" cy="14173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280160"/>
            <a:ext cx="20116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400" b="1">
                <a:solidFill>
                  <a:srgbClr val="38BDF8"/>
                </a:solidFill>
                <a:latin typeface="Calibri"/>
              </a:rPr>
              <a:t>128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011680"/>
            <a:ext cx="20116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F8FAFC"/>
                </a:solidFill>
                <a:latin typeface="Calibri"/>
              </a:rPr>
              <a:t>Features Delivered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14600" y="1143000"/>
            <a:ext cx="2011680" cy="14173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14600" y="1280160"/>
            <a:ext cx="20116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400" b="1">
                <a:solidFill>
                  <a:srgbClr val="FB923C"/>
                </a:solidFill>
                <a:latin typeface="Calibri"/>
              </a:rPr>
              <a:t>511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14600" y="2011680"/>
            <a:ext cx="20116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F8FAFC"/>
                </a:solidFill>
                <a:latin typeface="Calibri"/>
              </a:rPr>
              <a:t>Automated Tests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17720" y="1143000"/>
            <a:ext cx="2011680" cy="14173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1280160"/>
            <a:ext cx="20116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400" b="1">
                <a:solidFill>
                  <a:srgbClr val="4ADE80"/>
                </a:solidFill>
                <a:latin typeface="Calibri"/>
              </a:rPr>
              <a:t>97%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011680"/>
            <a:ext cx="20116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F8FAFC"/>
                </a:solidFill>
                <a:latin typeface="Calibri"/>
              </a:rPr>
              <a:t>Code Coverage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20840" y="1143000"/>
            <a:ext cx="2011680" cy="14173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20840" y="1280160"/>
            <a:ext cx="20116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400" b="1">
                <a:solidFill>
                  <a:srgbClr val="A78BFA"/>
                </a:solidFill>
                <a:latin typeface="Calibri"/>
              </a:rPr>
              <a:t>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0840" y="2011680"/>
            <a:ext cx="20116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F8FAFC"/>
                </a:solidFill>
                <a:latin typeface="Calibri"/>
              </a:rPr>
              <a:t>Epics across 6 Groups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2743200"/>
            <a:ext cx="8321040" cy="1874519"/>
          </a:xfrm>
          <a:prstGeom prst="roundRect">
            <a:avLst>
              <a:gd name="adj" fmla="val 6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2834640"/>
            <a:ext cx="813816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FBBF24"/>
                </a:solidFill>
                <a:latin typeface="Calibri"/>
              </a:rPr>
              <a:t>Tech Stack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154680"/>
            <a:ext cx="81381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F8FAFC"/>
                </a:solidFill>
                <a:latin typeface="Consolas"/>
              </a:rPr>
              <a:t>Frontend   </a:t>
            </a:r>
            <a:r>
              <a:rPr sz="1100">
                <a:solidFill>
                  <a:srgbClr val="CBD5E1"/>
                </a:solidFill>
                <a:latin typeface="Calibri"/>
              </a:rPr>
              <a:t>React 19 · Vite · TypeScript · Tailwind CSS 4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F8FAFC"/>
                </a:solidFill>
                <a:latin typeface="Consolas"/>
              </a:rPr>
              <a:t>Backend    </a:t>
            </a:r>
            <a:r>
              <a:rPr sz="1100">
                <a:solidFill>
                  <a:srgbClr val="CBD5E1"/>
                </a:solidFill>
                <a:latin typeface="Calibri"/>
              </a:rPr>
              <a:t>Python 3.13 · FastAPI · SQLAlchemy 2.0 (async)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F8FAFC"/>
                </a:solidFill>
                <a:latin typeface="Consolas"/>
              </a:rPr>
              <a:t>Agents     </a:t>
            </a:r>
            <a:r>
              <a:rPr sz="1100">
                <a:solidFill>
                  <a:srgbClr val="CBD5E1"/>
                </a:solidFill>
                <a:latin typeface="Calibri"/>
              </a:rPr>
              <a:t>DeepAgents 0.4.12 (LangGraph) + 5 subagents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F8FAFC"/>
                </a:solidFill>
                <a:latin typeface="Consolas"/>
              </a:rPr>
              <a:t>LLM        </a:t>
            </a:r>
            <a:r>
              <a:rPr sz="1100">
                <a:solidFill>
                  <a:srgbClr val="CBD5E1"/>
                </a:solidFill>
                <a:latin typeface="Calibri"/>
              </a:rPr>
              <a:t>OpenAI GPT-5.4-mini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F8FAFC"/>
                </a:solidFill>
                <a:latin typeface="Consolas"/>
              </a:rPr>
              <a:t>Database   </a:t>
            </a:r>
            <a:r>
              <a:rPr sz="1100">
                <a:solidFill>
                  <a:srgbClr val="CBD5E1"/>
                </a:solidFill>
                <a:latin typeface="Calibri"/>
              </a:rPr>
              <a:t>PostgreSQL 16 + Weaviate (hybrid vector search)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846320"/>
            <a:ext cx="594360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Calibri"/>
              </a:rPr>
              <a:t>Claude Harness Engine v1.1.5   ·   Autonomous SDLC for Agentic Software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4846320"/>
            <a:ext cx="100584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Calibri"/>
              </a:rPr>
              <a:t>28 / 30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832104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Calibri"/>
              </a:rPr>
              <a:t>Lesson Learned — Requirements Are Everything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85800"/>
            <a:ext cx="83210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38BDF8"/>
                </a:solidFill>
                <a:latin typeface="Calibri"/>
              </a:rPr>
              <a:t>The scaffolding is only as good as the inputs it receives.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188720"/>
            <a:ext cx="4114800" cy="310896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3840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4ADE80"/>
                </a:solidFill>
                <a:latin typeface="Calibri"/>
              </a:rPr>
              <a:t>Well-Written Requirements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38404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F8FAFC"/>
                </a:solidFill>
                <a:latin typeface="Calibri"/>
              </a:rPr>
              <a:t>▸ Clear Requirements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F8FAFC"/>
                </a:solidFill>
                <a:latin typeface="Calibri"/>
              </a:rPr>
              <a:t>▸ Comprehensive BRD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F8FAFC"/>
                </a:solidFill>
                <a:latin typeface="Calibri"/>
              </a:rPr>
              <a:t>▸ Detailed Stories + Dep Graph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F8FAFC"/>
                </a:solidFill>
                <a:latin typeface="Calibri"/>
              </a:rPr>
              <a:t>▸ Autonomous /auto Build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4ADE80"/>
                </a:solidFill>
                <a:latin typeface="Calibri"/>
              </a:rPr>
              <a:t>→ 128 features  ·  97% coverage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17720" y="1188720"/>
            <a:ext cx="4114800" cy="310896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1280160"/>
            <a:ext cx="3840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F87171"/>
                </a:solidFill>
                <a:latin typeface="Calibri"/>
              </a:rPr>
              <a:t>Vague or Incomplete Requirements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691640"/>
            <a:ext cx="38404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F8FAFC"/>
                </a:solidFill>
                <a:latin typeface="Calibri"/>
              </a:rPr>
              <a:t>▸ Vague Requirements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F8FAFC"/>
                </a:solidFill>
                <a:latin typeface="Calibri"/>
              </a:rPr>
              <a:t>▸ Shallow BRD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F8FAFC"/>
                </a:solidFill>
                <a:latin typeface="Calibri"/>
              </a:rPr>
              <a:t>▸ Incomplete Spec + Stories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F8FAFC"/>
                </a:solidFill>
                <a:latin typeface="Calibri"/>
              </a:rPr>
              <a:t>▸ /auto stalls or misbuilds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87171"/>
                </a:solidFill>
                <a:latin typeface="Calibri"/>
              </a:rPr>
              <a:t>→ Fallback to /vibe coding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4343400"/>
            <a:ext cx="8321040" cy="384048"/>
          </a:xfrm>
          <a:prstGeom prst="roundRect">
            <a:avLst>
              <a:gd name="adj" fmla="val 6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4370832"/>
            <a:ext cx="81381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FBBF24"/>
                </a:solidFill>
                <a:latin typeface="Calibri"/>
              </a:rPr>
              <a:t>Takeaway: Invest in the BRD. The BA / Architect role becomes the highest-leverage position in an agentic pod.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4846320"/>
            <a:ext cx="594360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Calibri"/>
              </a:rPr>
              <a:t>Claude Harness Engine v1.1.5   ·   Autonomous SDLC for Agentic Software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4846320"/>
            <a:ext cx="100584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Calibri"/>
              </a:rPr>
              <a:t>29 / 30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832104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Calibri"/>
              </a:rPr>
              <a:t>Key Takeaways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097280"/>
            <a:ext cx="8321040" cy="64008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48640" y="1261872"/>
            <a:ext cx="310896" cy="310896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61872"/>
            <a:ext cx="310896" cy="31089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188720"/>
            <a:ext cx="7589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38BDF8"/>
                </a:solidFill>
                <a:latin typeface="Calibri"/>
              </a:rPr>
              <a:t>GAN separation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426464"/>
            <a:ext cx="758952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Eliminates self-evaluation bias — the single biggest failure mode in agentic builds.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810512"/>
            <a:ext cx="8321040" cy="640080"/>
          </a:xfrm>
          <a:prstGeom prst="roundRect">
            <a:avLst>
              <a:gd name="adj" fmla="val 6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48640" y="1975104"/>
            <a:ext cx="310896" cy="310896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975104"/>
            <a:ext cx="310896" cy="31089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1901952"/>
            <a:ext cx="7589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B923C"/>
                </a:solidFill>
                <a:latin typeface="Calibri"/>
              </a:rPr>
              <a:t>Karpathy ratchet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139696"/>
            <a:ext cx="758952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Guarantees monotonic progress — every commit makes the system strictly better.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2523744"/>
            <a:ext cx="8321040" cy="64008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48640" y="2688336"/>
            <a:ext cx="310896" cy="310896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2688336"/>
            <a:ext cx="310896" cy="31089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2615184"/>
            <a:ext cx="7589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4ADE80"/>
                </a:solidFill>
                <a:latin typeface="Calibri"/>
              </a:rPr>
              <a:t>Skills-as-commands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2852928"/>
            <a:ext cx="758952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One real `/scaffold` command bootstraps a runtime where 21 skills act as virtual commands. Keeps context cheap and discovery progressive.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" y="3236976"/>
            <a:ext cx="8321040" cy="640080"/>
          </a:xfrm>
          <a:prstGeom prst="roundRect">
            <a:avLst>
              <a:gd name="adj" fmla="val 6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48640" y="3401568"/>
            <a:ext cx="310896" cy="310896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3401568"/>
            <a:ext cx="310896" cy="31089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3328416"/>
            <a:ext cx="7589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A78BFA"/>
                </a:solidFill>
                <a:latin typeface="Calibri"/>
              </a:rPr>
              <a:t>Graph-grounded Brownfield + Vibe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3566160"/>
            <a:ext cx="758952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Brownfield discovery now produces a deterministic AST + dependency graph + Fowler seam ranking. Tiny safe edits use /vibe. Both lanes preserve the ratchet.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1480" y="3950208"/>
            <a:ext cx="8321040" cy="64008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48640" y="4114800"/>
            <a:ext cx="310896" cy="310896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4114800"/>
            <a:ext cx="310896" cy="31089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  <a:latin typeface="Calibr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4041648"/>
            <a:ext cx="7589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BBF24"/>
                </a:solidFill>
                <a:latin typeface="Calibri"/>
              </a:rPr>
              <a:t>Requirements quality is the bottleneck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4279392"/>
            <a:ext cx="758952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An agentic pod of 3-4 people + 7 AI agents can outpace a 10-person agile team — but only if the BRD is rigorous.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4736592"/>
            <a:ext cx="83210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38BDF8"/>
                </a:solidFill>
                <a:latin typeface="Calibri"/>
              </a:rPr>
              <a:t>Claude Harness Engine v1.1.5  —  Autonomous SDLC for the Age of Agents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4846320"/>
            <a:ext cx="594360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Calibri"/>
              </a:rPr>
              <a:t>Claude Harness Engine v1.1.5   ·   Autonomous SDLC for Agentic Software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0" y="4846320"/>
            <a:ext cx="100584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Calibri"/>
              </a:rPr>
              <a:t>30 / 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